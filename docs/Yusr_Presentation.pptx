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10"/>
  </p:normalViewPr>
  <p:slideViewPr>
    <p:cSldViewPr snapToGrid="0" snapToObjects="1">
      <p:cViewPr varScale="1">
        <p:scale>
          <a:sx n="88" d="100"/>
          <a:sy n="88" d="100"/>
        </p:scale>
        <p:origin x="21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624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ابدئي بجملة واحدة: يسر مو مجرد سجل للمريض، هو نظام ينظم استمرارية الرعاية بين أكثر من مقدم رعاية. بعدها ادخلي مباشرة للمشكلة. لا تتجاوزين 30 ثانية.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لا تعددين كل المميزات. قولي المشكلة في ثلاث نقاط فقط، ثم: من هنا جاءت فكرة يسر، منصة تربط الرعاية بدل ما تكون البيانات والمسؤوليات متفرقة. حوالي 50 ثانية.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المشكلة قولي: هنا يجي حل يسر. بدل ما أحل كل مشكلة بصفحة منفصلة، بنيت منصة واحدة حول المريض. أوضح مين المسؤول الآن، أربط المتابعة اليومية، أخلي الأحداث المهمة تطلق تنبيه أو إجراء، وأحافظ على تاريخ الرعاية عشان أقدر ألخصه بالذكاء الاصطناعي. 45 ثانية.</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سلايد قبل الديمو. اشرحي من اليمين/حسب العرض: مريض، فريق، مسؤول حالي، رعاية يومية، حدث أو تسليم، ثم تاريخ وملخص. أكدي أن الواجهة تعرض الرحلة لكن الباك إند هو الذي يفرض القواعد. 60 ثانية.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صار الشرح أوضح: لا تقرين الجدول كله. اختاري Handover وMedication وSmart Summary. قولي الموقف أول، بعدها الإجراء في الباك إند، وأخيرًا النتيجة اللي يشوفها المستخدم. 55 ثانية.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هذي نقطة تقنية قوية: قولي عندي أتمتة فعلية باستخدام @Scheduled، وعندي @Transactional في العمليات المترابطة حتى ما يصير جزء يتحدث وجزء لا. لا تدخلي بتفاصيل ACID. 50 ثانية.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قولي: الذكاء الاصطناعي هنا مو ميزة منفصلة؛ هو آخر خطوة في رحلة البيانات. أجمع السجلات الفعلية، أبني Context، أرسلها للـAI بقيود واضحة، أحفظ النتيجة وأرسلها بالإيميل. 55 ثانية.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السلايد بصري، لا تشرحين كل تقنية. قولي: Spring Boot هو الأساس، MySQL للبيانات، الواجهة HTML/CSS/JS، Google GenAI للملخصات، Twilio للواتساب، Spring Mail للإيميل، واستخدمت @Transactional و@Scheduled في منطق الباك إند. 40 ثانية.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تحاولين شرح كل Model. قولي: Patient هو محور النظام، والأدوية تتفرع Schedule ثم Log، وHandover يربط المرسل والمستلم. وبعدها أشيري للـLayered Architecture. 45 ثانية.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هنا انتقلي للموقع مباشرة. لا تكملي كلام نظري. خلي 4 إلى 5 دقائق للديمو. إذا الوقت ضاق: Medication + Handover + Smart Summary هي الأولوية.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فقط إذا رجعتي للبرزنتيشن بعد الديمو. قولي جملة ختامية قصيرة: يسر صممته عشان تكون الرعاية أسهل في المتابعة وأكثر وضوحًا بين أفراد العائلة.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a:effectLst/>
      </p:bgPr>
    </p:bg>
    <p:spTree>
      <p:nvGrpSpPr>
        <p:cNvPr id="1" name=""/>
        <p:cNvGrpSpPr/>
        <p:nvPr/>
      </p:nvGrpSpPr>
      <p:grpSpPr>
        <a:xfrm>
          <a:off x="0" y="0"/>
          <a:ext cx="0" cy="0"/>
          <a:chOff x="0" y="0"/>
          <a:chExt cx="0" cy="0"/>
        </a:xfrm>
      </p:grpSpPr>
      <p:pic>
        <p:nvPicPr>
          <p:cNvPr id="2" name="Image 0" descr="/mnt/data/yusr-logo.png"/>
          <p:cNvPicPr>
            <a:picLocks noChangeAspect="1"/>
          </p:cNvPicPr>
          <p:nvPr/>
        </p:nvPicPr>
        <p:blipFill>
          <a:blip r:embed="rId2"/>
          <a:stretch>
            <a:fillRect/>
          </a:stretch>
        </p:blipFill>
        <p:spPr>
          <a:xfrm>
            <a:off x="411480" y="228600"/>
            <a:ext cx="658368" cy="658368"/>
          </a:xfrm>
          <a:prstGeom prst="rect">
            <a:avLst/>
          </a:prstGeom>
        </p:spPr>
      </p:pic>
      <p:sp>
        <p:nvSpPr>
          <p:cNvPr id="3" name="Text 0"/>
          <p:cNvSpPr/>
          <p:nvPr/>
        </p:nvSpPr>
        <p:spPr>
          <a:xfrm>
            <a:off x="1143000" y="320040"/>
            <a:ext cx="1828800" cy="274320"/>
          </a:xfrm>
          <a:prstGeom prst="rect">
            <a:avLst/>
          </a:prstGeom>
          <a:noFill/>
          <a:ln/>
        </p:spPr>
        <p:txBody>
          <a:bodyPr wrap="square" rtlCol="0" anchor="ctr"/>
          <a:lstStyle/>
          <a:p>
            <a:pPr marL="0" indent="0">
              <a:buNone/>
            </a:pPr>
            <a:r>
              <a:rPr lang="en-US" sz="1000" b="1" dirty="0">
                <a:solidFill>
                  <a:srgbClr val="40584D"/>
                </a:solidFill>
                <a:latin typeface="Arial" pitchFamily="34" charset="0"/>
                <a:ea typeface="Arial" pitchFamily="34" charset="-122"/>
                <a:cs typeface="Arial" pitchFamily="34" charset="-120"/>
              </a:rPr>
              <a:t>YUSR  |  يسر</a:t>
            </a:r>
            <a:endParaRPr lang="en-US" sz="1000" dirty="0"/>
          </a:p>
        </p:txBody>
      </p:sp>
      <p:sp>
        <p:nvSpPr>
          <p:cNvPr id="4" name="Shape 1"/>
          <p:cNvSpPr/>
          <p:nvPr/>
        </p:nvSpPr>
        <p:spPr>
          <a:xfrm>
            <a:off x="411480" y="6519672"/>
            <a:ext cx="11384280" cy="0"/>
          </a:xfrm>
          <a:prstGeom prst="line">
            <a:avLst/>
          </a:prstGeom>
          <a:noFill/>
          <a:ln w="12700">
            <a:solidFill>
              <a:srgbClr val="D8DDD9"/>
            </a:solidFill>
            <a:prstDash val="solid"/>
          </a:ln>
        </p:spPr>
      </p:sp>
      <p:sp>
        <p:nvSpPr>
          <p:cNvPr id="5" name="Text 2"/>
          <p:cNvSpPr/>
          <p:nvPr/>
        </p:nvSpPr>
        <p:spPr>
          <a:xfrm>
            <a:off x="8961120" y="6583680"/>
            <a:ext cx="2788920" cy="164592"/>
          </a:xfrm>
          <a:prstGeom prst="rect">
            <a:avLst/>
          </a:prstGeom>
          <a:noFill/>
          <a:ln/>
        </p:spPr>
        <p:txBody>
          <a:bodyPr wrap="square" rtlCol="0" anchor="ctr"/>
          <a:lstStyle/>
          <a:p>
            <a:pPr marL="0" indent="0" algn="r">
              <a:buNone/>
            </a:pPr>
            <a:r>
              <a:rPr lang="en-US" sz="750" dirty="0">
                <a:solidFill>
                  <a:srgbClr val="82998A"/>
                </a:solidFill>
                <a:latin typeface="Arial" pitchFamily="34" charset="0"/>
                <a:ea typeface="Arial" pitchFamily="34" charset="-122"/>
                <a:cs typeface="Arial" pitchFamily="34" charset="-120"/>
              </a:rPr>
              <a:t>رعاية أسهل... لحياة أفضل</a:t>
            </a:r>
            <a:endParaRPr lang="en-US" sz="750" dirty="0"/>
          </a:p>
        </p:txBody>
      </p:sp>
      <p:sp>
        <p:nvSpPr>
          <p:cNvPr id="25"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a:effectLst/>
      </p:bgPr>
    </p:bg>
    <p:spTree>
      <p:nvGrpSpPr>
        <p:cNvPr id="1" name=""/>
        <p:cNvGrpSpPr/>
        <p:nvPr/>
      </p:nvGrpSpPr>
      <p:grpSpPr>
        <a:xfrm>
          <a:off x="0" y="0"/>
          <a:ext cx="0" cy="0"/>
          <a:chOff x="0" y="0"/>
          <a:chExt cx="0" cy="0"/>
        </a:xfrm>
      </p:grpSpPr>
      <p:pic>
        <p:nvPicPr>
          <p:cNvPr id="2" name="Image 0" descr="/mnt/data/hero-care.png"/>
          <p:cNvPicPr>
            <a:picLocks noChangeAspect="1"/>
          </p:cNvPicPr>
          <p:nvPr/>
        </p:nvPicPr>
        <p:blipFill>
          <a:blip r:embed="rId3">
            <a:alphaModFix amt="95000"/>
          </a:blip>
          <a:stretch>
            <a:fillRect/>
          </a:stretch>
        </p:blipFill>
        <p:spPr>
          <a:xfrm>
            <a:off x="0" y="0"/>
            <a:ext cx="5669280" cy="6858000"/>
          </a:xfrm>
          <a:prstGeom prst="rect">
            <a:avLst/>
          </a:prstGeom>
        </p:spPr>
      </p:pic>
      <p:sp>
        <p:nvSpPr>
          <p:cNvPr id="3" name="Shape 0"/>
          <p:cNvSpPr/>
          <p:nvPr/>
        </p:nvSpPr>
        <p:spPr>
          <a:xfrm>
            <a:off x="4892040" y="0"/>
            <a:ext cx="1828800" cy="6858000"/>
          </a:xfrm>
          <a:prstGeom prst="rect">
            <a:avLst/>
          </a:prstGeom>
          <a:solidFill>
            <a:srgbClr val="F7F5F0">
              <a:alpha val="78000"/>
            </a:srgbClr>
          </a:solidFill>
          <a:ln w="12700">
            <a:solidFill>
              <a:srgbClr val="F7F5F0">
                <a:alpha val="0"/>
              </a:srgbClr>
            </a:solidFill>
            <a:prstDash val="solid"/>
          </a:ln>
        </p:spPr>
      </p:sp>
      <p:pic>
        <p:nvPicPr>
          <p:cNvPr id="4" name="Image 1" descr="/mnt/data/yusr-logo.png"/>
          <p:cNvPicPr>
            <a:picLocks noChangeAspect="1"/>
          </p:cNvPicPr>
          <p:nvPr/>
        </p:nvPicPr>
        <p:blipFill>
          <a:blip r:embed="rId4"/>
          <a:stretch>
            <a:fillRect/>
          </a:stretch>
        </p:blipFill>
        <p:spPr>
          <a:xfrm>
            <a:off x="9580735" y="191589"/>
            <a:ext cx="1755648" cy="1755648"/>
          </a:xfrm>
          <a:prstGeom prst="rect">
            <a:avLst/>
          </a:prstGeom>
        </p:spPr>
      </p:pic>
      <p:sp>
        <p:nvSpPr>
          <p:cNvPr id="5" name="Text 1"/>
          <p:cNvSpPr/>
          <p:nvPr/>
        </p:nvSpPr>
        <p:spPr>
          <a:xfrm>
            <a:off x="5943600" y="1828800"/>
            <a:ext cx="4892040" cy="685800"/>
          </a:xfrm>
          <a:prstGeom prst="rect">
            <a:avLst/>
          </a:prstGeom>
          <a:noFill/>
          <a:ln/>
        </p:spPr>
        <p:txBody>
          <a:bodyPr wrap="square" rtlCol="0" anchor="ctr"/>
          <a:lstStyle/>
          <a:p>
            <a:pPr marL="0" indent="0" algn="r" rtl="1">
              <a:buNone/>
            </a:pPr>
            <a:r>
              <a:rPr lang="en-US" sz="4000" b="1" dirty="0">
                <a:solidFill>
                  <a:srgbClr val="40584D"/>
                </a:solidFill>
              </a:rPr>
              <a:t>يسر</a:t>
            </a:r>
            <a:endParaRPr lang="en-US" sz="4000" dirty="0"/>
          </a:p>
        </p:txBody>
      </p:sp>
      <p:sp>
        <p:nvSpPr>
          <p:cNvPr id="6" name="Text 2"/>
          <p:cNvSpPr/>
          <p:nvPr/>
        </p:nvSpPr>
        <p:spPr>
          <a:xfrm>
            <a:off x="5943600" y="2606040"/>
            <a:ext cx="4892040" cy="384048"/>
          </a:xfrm>
          <a:prstGeom prst="rect">
            <a:avLst/>
          </a:prstGeom>
          <a:noFill/>
          <a:ln/>
        </p:spPr>
        <p:txBody>
          <a:bodyPr wrap="square" rtlCol="0" anchor="ctr"/>
          <a:lstStyle/>
          <a:p>
            <a:pPr marL="0" indent="0" algn="r" rtl="1">
              <a:buNone/>
            </a:pPr>
            <a:r>
              <a:rPr lang="en-US" sz="2000" b="1" dirty="0">
                <a:solidFill>
                  <a:srgbClr val="1F2D27"/>
                </a:solidFill>
              </a:rPr>
              <a:t>رعاية أسهل... لحياة أفضل</a:t>
            </a:r>
            <a:endParaRPr lang="en-US" sz="2000" dirty="0"/>
          </a:p>
        </p:txBody>
      </p:sp>
      <p:sp>
        <p:nvSpPr>
          <p:cNvPr id="7" name="Text 3"/>
          <p:cNvSpPr/>
          <p:nvPr/>
        </p:nvSpPr>
        <p:spPr>
          <a:xfrm>
            <a:off x="5943600" y="3246120"/>
            <a:ext cx="4892040" cy="1005840"/>
          </a:xfrm>
          <a:prstGeom prst="rect">
            <a:avLst/>
          </a:prstGeom>
          <a:noFill/>
          <a:ln/>
        </p:spPr>
        <p:txBody>
          <a:bodyPr wrap="square" rtlCol="0" anchor="ctr"/>
          <a:lstStyle/>
          <a:p>
            <a:pPr marL="0" indent="0" algn="r" rtl="1">
              <a:buNone/>
            </a:pPr>
            <a:r>
              <a:rPr lang="en-US" sz="1500" dirty="0">
                <a:solidFill>
                  <a:srgbClr val="52645B"/>
                </a:solidFill>
              </a:rPr>
              <a:t>نظام ذكي لتنظيم الرعاية العائلية للمريض، من المسؤولية اليومية إلى المتابعة والتنبيهات والملخصات الذكية.</a:t>
            </a:r>
            <a:endParaRPr lang="en-US" sz="1500" dirty="0"/>
          </a:p>
        </p:txBody>
      </p:sp>
      <p:sp>
        <p:nvSpPr>
          <p:cNvPr id="8" name="Shape 4"/>
          <p:cNvSpPr/>
          <p:nvPr/>
        </p:nvSpPr>
        <p:spPr>
          <a:xfrm>
            <a:off x="8887968" y="4617720"/>
            <a:ext cx="1947672" cy="347472"/>
          </a:xfrm>
          <a:prstGeom prst="roundRect">
            <a:avLst>
              <a:gd name="adj" fmla="val 39474"/>
            </a:avLst>
          </a:prstGeom>
          <a:solidFill>
            <a:srgbClr val="E8EDE9"/>
          </a:solidFill>
          <a:ln w="12700">
            <a:solidFill>
              <a:srgbClr val="E8EDE9"/>
            </a:solidFill>
            <a:prstDash val="solid"/>
          </a:ln>
        </p:spPr>
      </p:sp>
      <p:sp>
        <p:nvSpPr>
          <p:cNvPr id="9" name="Text 5"/>
          <p:cNvSpPr/>
          <p:nvPr/>
        </p:nvSpPr>
        <p:spPr>
          <a:xfrm>
            <a:off x="8961120" y="4700016"/>
            <a:ext cx="1801368" cy="146304"/>
          </a:xfrm>
          <a:prstGeom prst="rect">
            <a:avLst/>
          </a:prstGeom>
          <a:noFill/>
          <a:ln/>
        </p:spPr>
        <p:txBody>
          <a:bodyPr wrap="square" lIns="0" tIns="0" rIns="0" bIns="0" rtlCol="0" anchor="ctr"/>
          <a:lstStyle/>
          <a:p>
            <a:pPr marL="0" indent="0" algn="ctr" rtl="1">
              <a:buNone/>
            </a:pPr>
            <a:r>
              <a:rPr lang="en-US" sz="850" b="1" dirty="0">
                <a:solidFill>
                  <a:srgbClr val="40584D"/>
                </a:solidFill>
              </a:rPr>
              <a:t>Spring Boot + AI</a:t>
            </a:r>
            <a:endParaRPr lang="en-US" sz="850" dirty="0"/>
          </a:p>
        </p:txBody>
      </p:sp>
      <p:sp>
        <p:nvSpPr>
          <p:cNvPr id="10" name="Shape 6"/>
          <p:cNvSpPr/>
          <p:nvPr/>
        </p:nvSpPr>
        <p:spPr>
          <a:xfrm>
            <a:off x="6748272" y="4617720"/>
            <a:ext cx="1874520" cy="347472"/>
          </a:xfrm>
          <a:prstGeom prst="roundRect">
            <a:avLst>
              <a:gd name="adj" fmla="val 39474"/>
            </a:avLst>
          </a:prstGeom>
          <a:solidFill>
            <a:srgbClr val="E8EDE9"/>
          </a:solidFill>
          <a:ln w="12700">
            <a:solidFill>
              <a:srgbClr val="E8EDE9"/>
            </a:solidFill>
            <a:prstDash val="solid"/>
          </a:ln>
        </p:spPr>
      </p:sp>
      <p:sp>
        <p:nvSpPr>
          <p:cNvPr id="11" name="Text 7"/>
          <p:cNvSpPr/>
          <p:nvPr/>
        </p:nvSpPr>
        <p:spPr>
          <a:xfrm>
            <a:off x="6821424" y="4700016"/>
            <a:ext cx="1728216" cy="146304"/>
          </a:xfrm>
          <a:prstGeom prst="rect">
            <a:avLst/>
          </a:prstGeom>
          <a:noFill/>
          <a:ln/>
        </p:spPr>
        <p:txBody>
          <a:bodyPr wrap="square" lIns="0" tIns="0" rIns="0" bIns="0" rtlCol="0" anchor="ctr"/>
          <a:lstStyle/>
          <a:p>
            <a:pPr marL="0" indent="0" algn="ctr" rtl="1">
              <a:buNone/>
            </a:pPr>
            <a:r>
              <a:rPr lang="en-US" sz="850" b="1" dirty="0">
                <a:solidFill>
                  <a:srgbClr val="40584D"/>
                </a:solidFill>
              </a:rPr>
              <a:t>WhatsApp + Email</a:t>
            </a:r>
            <a:endParaRPr lang="en-US" sz="850" dirty="0"/>
          </a:p>
        </p:txBody>
      </p:sp>
      <p:sp>
        <p:nvSpPr>
          <p:cNvPr id="12" name="Text 8"/>
          <p:cNvSpPr/>
          <p:nvPr/>
        </p:nvSpPr>
        <p:spPr>
          <a:xfrm>
            <a:off x="5943600" y="5989320"/>
            <a:ext cx="4892040" cy="256032"/>
          </a:xfrm>
          <a:prstGeom prst="rect">
            <a:avLst/>
          </a:prstGeom>
          <a:noFill/>
          <a:ln/>
        </p:spPr>
        <p:txBody>
          <a:bodyPr wrap="square" rtlCol="0" anchor="ctr"/>
          <a:lstStyle/>
          <a:p>
            <a:pPr marL="0" indent="0" algn="r">
              <a:buNone/>
            </a:pPr>
            <a:r>
              <a:rPr lang="en-US" sz="1000" dirty="0">
                <a:solidFill>
                  <a:srgbClr val="82998A"/>
                </a:solidFill>
              </a:rPr>
              <a:t>Lama Saud Alharbi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المشكلة التي بدأ منها يسر</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PROBLEM → SOLUTION</a:t>
            </a:r>
            <a:endParaRPr lang="en-US" sz="800" dirty="0"/>
          </a:p>
        </p:txBody>
      </p:sp>
      <p:sp>
        <p:nvSpPr>
          <p:cNvPr id="4" name="Text 2"/>
          <p:cNvSpPr/>
          <p:nvPr/>
        </p:nvSpPr>
        <p:spPr>
          <a:xfrm>
            <a:off x="960120" y="1554480"/>
            <a:ext cx="10241280" cy="548640"/>
          </a:xfrm>
          <a:prstGeom prst="rect">
            <a:avLst/>
          </a:prstGeom>
          <a:noFill/>
          <a:ln/>
        </p:spPr>
        <p:txBody>
          <a:bodyPr wrap="square" rtlCol="0" anchor="ctr"/>
          <a:lstStyle/>
          <a:p>
            <a:pPr marL="0" indent="0" algn="ctr" rtl="1">
              <a:buNone/>
            </a:pPr>
            <a:r>
              <a:rPr lang="en-US" sz="1600" b="1" dirty="0">
                <a:solidFill>
                  <a:srgbClr val="40584D"/>
                </a:solidFill>
              </a:rPr>
              <a:t>الرعاية العائلية غالبًا موزعة بين أشخاص ورسائل وملاحظات... لكن المسؤولية واحدة: سلامة واستمرارية رعاية المريض.</a:t>
            </a:r>
            <a:endParaRPr lang="en-US" sz="1600" dirty="0"/>
          </a:p>
        </p:txBody>
      </p:sp>
      <p:sp>
        <p:nvSpPr>
          <p:cNvPr id="5" name="Shape 3"/>
          <p:cNvSpPr/>
          <p:nvPr/>
        </p:nvSpPr>
        <p:spPr>
          <a:xfrm>
            <a:off x="731520" y="2331720"/>
            <a:ext cx="3429000" cy="1417320"/>
          </a:xfrm>
          <a:prstGeom prst="roundRect">
            <a:avLst>
              <a:gd name="adj" fmla="val 5161"/>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6" name="Shape 4"/>
          <p:cNvSpPr/>
          <p:nvPr/>
        </p:nvSpPr>
        <p:spPr>
          <a:xfrm>
            <a:off x="4096512" y="2496312"/>
            <a:ext cx="64008" cy="1088136"/>
          </a:xfrm>
          <a:prstGeom prst="rect">
            <a:avLst/>
          </a:prstGeom>
          <a:solidFill>
            <a:srgbClr val="B35C5C"/>
          </a:solidFill>
          <a:ln w="12700">
            <a:solidFill>
              <a:srgbClr val="B35C5C"/>
            </a:solidFill>
            <a:prstDash val="solid"/>
          </a:ln>
        </p:spPr>
      </p:sp>
      <p:sp>
        <p:nvSpPr>
          <p:cNvPr id="7" name="Text 5"/>
          <p:cNvSpPr/>
          <p:nvPr/>
        </p:nvSpPr>
        <p:spPr>
          <a:xfrm>
            <a:off x="960120" y="2532888"/>
            <a:ext cx="2926080" cy="292608"/>
          </a:xfrm>
          <a:prstGeom prst="rect">
            <a:avLst/>
          </a:prstGeom>
          <a:noFill/>
          <a:ln/>
        </p:spPr>
        <p:txBody>
          <a:bodyPr wrap="square" rtlCol="0" anchor="ctr"/>
          <a:lstStyle/>
          <a:p>
            <a:pPr marL="0" indent="0" algn="r" rtl="1">
              <a:buNone/>
            </a:pPr>
            <a:r>
              <a:rPr lang="en-US" sz="1400" b="1" dirty="0">
                <a:solidFill>
                  <a:srgbClr val="1F2D27"/>
                </a:solidFill>
              </a:rPr>
              <a:t>مسؤولية غير واضحة</a:t>
            </a:r>
            <a:endParaRPr lang="en-US" sz="1400" dirty="0"/>
          </a:p>
        </p:txBody>
      </p:sp>
      <p:sp>
        <p:nvSpPr>
          <p:cNvPr id="8" name="Text 6"/>
          <p:cNvSpPr/>
          <p:nvPr/>
        </p:nvSpPr>
        <p:spPr>
          <a:xfrm>
            <a:off x="960120" y="2953512"/>
            <a:ext cx="2926080" cy="640080"/>
          </a:xfrm>
          <a:prstGeom prst="rect">
            <a:avLst/>
          </a:prstGeom>
          <a:noFill/>
          <a:ln/>
        </p:spPr>
        <p:txBody>
          <a:bodyPr wrap="square" lIns="254" tIns="254" rIns="254" bIns="254" rtlCol="0" anchor="t"/>
          <a:lstStyle/>
          <a:p>
            <a:pPr marL="0" indent="0" algn="r" rtl="1">
              <a:buNone/>
            </a:pPr>
            <a:r>
              <a:rPr lang="en-US" sz="1020" dirty="0">
                <a:solidFill>
                  <a:srgbClr val="52645B"/>
                </a:solidFill>
              </a:rPr>
              <a:t>مين المسؤول الآن؟ وهل انتقلت المهام معه؟</a:t>
            </a:r>
            <a:endParaRPr lang="en-US" sz="1020" dirty="0"/>
          </a:p>
        </p:txBody>
      </p:sp>
      <p:sp>
        <p:nvSpPr>
          <p:cNvPr id="9" name="Shape 7"/>
          <p:cNvSpPr/>
          <p:nvPr/>
        </p:nvSpPr>
        <p:spPr>
          <a:xfrm>
            <a:off x="4526280" y="2331720"/>
            <a:ext cx="3429000" cy="1417320"/>
          </a:xfrm>
          <a:prstGeom prst="roundRect">
            <a:avLst>
              <a:gd name="adj" fmla="val 5161"/>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0" name="Shape 8"/>
          <p:cNvSpPr/>
          <p:nvPr/>
        </p:nvSpPr>
        <p:spPr>
          <a:xfrm>
            <a:off x="7891272" y="2496312"/>
            <a:ext cx="64008" cy="1088136"/>
          </a:xfrm>
          <a:prstGeom prst="rect">
            <a:avLst/>
          </a:prstGeom>
          <a:solidFill>
            <a:srgbClr val="B35C5C"/>
          </a:solidFill>
          <a:ln w="12700">
            <a:solidFill>
              <a:srgbClr val="B35C5C"/>
            </a:solidFill>
            <a:prstDash val="solid"/>
          </a:ln>
        </p:spPr>
      </p:sp>
      <p:sp>
        <p:nvSpPr>
          <p:cNvPr id="11" name="Text 9"/>
          <p:cNvSpPr/>
          <p:nvPr/>
        </p:nvSpPr>
        <p:spPr>
          <a:xfrm>
            <a:off x="4754880" y="2532888"/>
            <a:ext cx="2926080" cy="292608"/>
          </a:xfrm>
          <a:prstGeom prst="rect">
            <a:avLst/>
          </a:prstGeom>
          <a:noFill/>
          <a:ln/>
        </p:spPr>
        <p:txBody>
          <a:bodyPr wrap="square" rtlCol="0" anchor="ctr"/>
          <a:lstStyle/>
          <a:p>
            <a:pPr marL="0" indent="0" algn="r" rtl="1">
              <a:buNone/>
            </a:pPr>
            <a:r>
              <a:rPr lang="en-US" sz="1400" b="1" dirty="0">
                <a:solidFill>
                  <a:srgbClr val="1F2D27"/>
                </a:solidFill>
              </a:rPr>
              <a:t>متابعة يومية متفرقة</a:t>
            </a:r>
            <a:endParaRPr lang="en-US" sz="1400" dirty="0"/>
          </a:p>
        </p:txBody>
      </p:sp>
      <p:sp>
        <p:nvSpPr>
          <p:cNvPr id="12" name="Text 10"/>
          <p:cNvSpPr/>
          <p:nvPr/>
        </p:nvSpPr>
        <p:spPr>
          <a:xfrm>
            <a:off x="4754880" y="2953512"/>
            <a:ext cx="2926080" cy="640080"/>
          </a:xfrm>
          <a:prstGeom prst="rect">
            <a:avLst/>
          </a:prstGeom>
          <a:noFill/>
          <a:ln/>
        </p:spPr>
        <p:txBody>
          <a:bodyPr wrap="square" lIns="254" tIns="254" rIns="254" bIns="254" rtlCol="0" anchor="t"/>
          <a:lstStyle/>
          <a:p>
            <a:pPr marL="0" indent="0" algn="r" rtl="1">
              <a:buNone/>
            </a:pPr>
            <a:r>
              <a:rPr lang="en-US" sz="1020" dirty="0">
                <a:solidFill>
                  <a:srgbClr val="52645B"/>
                </a:solidFill>
              </a:rPr>
              <a:t>دواء، جرعات، قراءات، مهام وحوادث في أماكن مختلفة.</a:t>
            </a:r>
            <a:endParaRPr lang="en-US" sz="1020" dirty="0"/>
          </a:p>
        </p:txBody>
      </p:sp>
      <p:sp>
        <p:nvSpPr>
          <p:cNvPr id="13" name="Shape 11"/>
          <p:cNvSpPr/>
          <p:nvPr/>
        </p:nvSpPr>
        <p:spPr>
          <a:xfrm>
            <a:off x="8321040" y="2331720"/>
            <a:ext cx="3429000" cy="1417320"/>
          </a:xfrm>
          <a:prstGeom prst="roundRect">
            <a:avLst>
              <a:gd name="adj" fmla="val 5161"/>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4" name="Shape 12"/>
          <p:cNvSpPr/>
          <p:nvPr/>
        </p:nvSpPr>
        <p:spPr>
          <a:xfrm>
            <a:off x="11686032" y="2496312"/>
            <a:ext cx="64008" cy="1088136"/>
          </a:xfrm>
          <a:prstGeom prst="rect">
            <a:avLst/>
          </a:prstGeom>
          <a:solidFill>
            <a:srgbClr val="B35C5C"/>
          </a:solidFill>
          <a:ln w="12700">
            <a:solidFill>
              <a:srgbClr val="B35C5C"/>
            </a:solidFill>
            <a:prstDash val="solid"/>
          </a:ln>
        </p:spPr>
      </p:sp>
      <p:sp>
        <p:nvSpPr>
          <p:cNvPr id="15" name="Text 13"/>
          <p:cNvSpPr/>
          <p:nvPr/>
        </p:nvSpPr>
        <p:spPr>
          <a:xfrm>
            <a:off x="8549640" y="2532888"/>
            <a:ext cx="2926080" cy="292608"/>
          </a:xfrm>
          <a:prstGeom prst="rect">
            <a:avLst/>
          </a:prstGeom>
          <a:noFill/>
          <a:ln/>
        </p:spPr>
        <p:txBody>
          <a:bodyPr wrap="square" rtlCol="0" anchor="ctr"/>
          <a:lstStyle/>
          <a:p>
            <a:pPr marL="0" indent="0" algn="r" rtl="1">
              <a:buNone/>
            </a:pPr>
            <a:r>
              <a:rPr lang="en-US" sz="1400" b="1" dirty="0">
                <a:solidFill>
                  <a:srgbClr val="1F2D27"/>
                </a:solidFill>
              </a:rPr>
              <a:t>تواصل متأخر</a:t>
            </a:r>
            <a:endParaRPr lang="en-US" sz="1400" dirty="0"/>
          </a:p>
        </p:txBody>
      </p:sp>
      <p:sp>
        <p:nvSpPr>
          <p:cNvPr id="16" name="Text 14"/>
          <p:cNvSpPr/>
          <p:nvPr/>
        </p:nvSpPr>
        <p:spPr>
          <a:xfrm>
            <a:off x="8549640" y="2953512"/>
            <a:ext cx="2926080" cy="640080"/>
          </a:xfrm>
          <a:prstGeom prst="rect">
            <a:avLst/>
          </a:prstGeom>
          <a:noFill/>
          <a:ln/>
        </p:spPr>
        <p:txBody>
          <a:bodyPr wrap="square" lIns="254" tIns="254" rIns="254" bIns="254" rtlCol="0" anchor="t"/>
          <a:lstStyle/>
          <a:p>
            <a:pPr marL="0" indent="0" algn="r" rtl="1">
              <a:buNone/>
            </a:pPr>
            <a:r>
              <a:rPr lang="en-US" sz="1020" dirty="0">
                <a:solidFill>
                  <a:srgbClr val="52645B"/>
                </a:solidFill>
              </a:rPr>
              <a:t>الأحداث المهمة مثل الحوادث أو نقص الدواء قد لا تصل للجميع بسرعة.</a:t>
            </a:r>
            <a:endParaRPr lang="en-US" sz="1020" dirty="0"/>
          </a:p>
        </p:txBody>
      </p:sp>
      <p:sp>
        <p:nvSpPr>
          <p:cNvPr id="17" name="Shape 15"/>
          <p:cNvSpPr/>
          <p:nvPr/>
        </p:nvSpPr>
        <p:spPr>
          <a:xfrm>
            <a:off x="5623560" y="3913632"/>
            <a:ext cx="502920" cy="502920"/>
          </a:xfrm>
          <a:prstGeom prst="downArrow">
            <a:avLst/>
          </a:prstGeom>
          <a:solidFill>
            <a:srgbClr val="D3B29D"/>
          </a:solidFill>
          <a:ln w="12700">
            <a:solidFill>
              <a:srgbClr val="D3B29D"/>
            </a:solidFill>
            <a:prstDash val="solid"/>
          </a:ln>
        </p:spPr>
      </p:sp>
      <p:sp>
        <p:nvSpPr>
          <p:cNvPr id="18" name="Shape 16"/>
          <p:cNvSpPr/>
          <p:nvPr/>
        </p:nvSpPr>
        <p:spPr>
          <a:xfrm>
            <a:off x="1508760" y="4617720"/>
            <a:ext cx="9144000" cy="1051560"/>
          </a:xfrm>
          <a:prstGeom prst="roundRect">
            <a:avLst>
              <a:gd name="adj" fmla="val 6957"/>
            </a:avLst>
          </a:prstGeom>
          <a:solidFill>
            <a:srgbClr val="40584D"/>
          </a:solidFill>
          <a:ln w="12700">
            <a:solidFill>
              <a:srgbClr val="40584D"/>
            </a:solidFill>
            <a:prstDash val="solid"/>
          </a:ln>
        </p:spPr>
      </p:sp>
      <p:sp>
        <p:nvSpPr>
          <p:cNvPr id="19" name="Text 17"/>
          <p:cNvSpPr/>
          <p:nvPr/>
        </p:nvSpPr>
        <p:spPr>
          <a:xfrm>
            <a:off x="1874520" y="4882896"/>
            <a:ext cx="8412480" cy="457200"/>
          </a:xfrm>
          <a:prstGeom prst="rect">
            <a:avLst/>
          </a:prstGeom>
          <a:noFill/>
          <a:ln/>
        </p:spPr>
        <p:txBody>
          <a:bodyPr wrap="square" rtlCol="0" anchor="ctr"/>
          <a:lstStyle/>
          <a:p>
            <a:pPr marL="0" indent="0" algn="ctr" rtl="1">
              <a:buNone/>
            </a:pPr>
            <a:r>
              <a:rPr lang="en-US" sz="1600" b="1" dirty="0">
                <a:solidFill>
                  <a:srgbClr val="FFFFFF"/>
                </a:solidFill>
              </a:rPr>
              <a:t>الحل: منصة واحدة تربط فريق الرعاية + المسؤول الحالي + الرعاية اليومية + التنبيهات + التاريخ + AI Summary</a:t>
            </a:r>
            <a:endParaRPr lang="en-US" sz="1600" dirty="0"/>
          </a:p>
        </p:txBody>
      </p:sp>
      <p:sp>
        <p:nvSpPr>
          <p:cNvPr id="25"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يسر هو الحل</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HOW YUSR SOLVES IT</a:t>
            </a:r>
            <a:endParaRPr lang="en-US" sz="800" dirty="0"/>
          </a:p>
        </p:txBody>
      </p:sp>
      <p:sp>
        <p:nvSpPr>
          <p:cNvPr id="4" name="Text 2"/>
          <p:cNvSpPr/>
          <p:nvPr/>
        </p:nvSpPr>
        <p:spPr>
          <a:xfrm>
            <a:off x="822960" y="1389888"/>
            <a:ext cx="10515600" cy="384048"/>
          </a:xfrm>
          <a:prstGeom prst="rect">
            <a:avLst/>
          </a:prstGeom>
          <a:noFill/>
          <a:ln/>
        </p:spPr>
        <p:txBody>
          <a:bodyPr wrap="square" rtlCol="0" anchor="ctr"/>
          <a:lstStyle/>
          <a:p>
            <a:pPr marL="0" indent="0" algn="ctr" rtl="1">
              <a:buNone/>
            </a:pPr>
            <a:r>
              <a:rPr lang="en-US" sz="1400" b="1" dirty="0">
                <a:solidFill>
                  <a:srgbClr val="40584D"/>
                </a:solidFill>
              </a:rPr>
              <a:t>بدل ما تكون الرعاية معلومات متفرقة، يسر يحولها إلى رحلة واحدة مترابطة حول المريض.</a:t>
            </a:r>
            <a:endParaRPr lang="en-US" sz="1400" dirty="0"/>
          </a:p>
        </p:txBody>
      </p:sp>
      <p:sp>
        <p:nvSpPr>
          <p:cNvPr id="5" name="Shape 3"/>
          <p:cNvSpPr/>
          <p:nvPr/>
        </p:nvSpPr>
        <p:spPr>
          <a:xfrm>
            <a:off x="4800600" y="2148840"/>
            <a:ext cx="2560320" cy="1828800"/>
          </a:xfrm>
          <a:prstGeom prst="ellipse">
            <a:avLst/>
          </a:prstGeom>
          <a:solidFill>
            <a:srgbClr val="40584D"/>
          </a:solidFill>
          <a:ln w="12700">
            <a:solidFill>
              <a:srgbClr val="40584D"/>
            </a:solidFill>
            <a:prstDash val="solid"/>
          </a:ln>
        </p:spPr>
      </p:sp>
      <p:pic>
        <p:nvPicPr>
          <p:cNvPr id="6" name="Image 0" descr="/mnt/data/yusr-logo.png"/>
          <p:cNvPicPr>
            <a:picLocks noChangeAspect="1"/>
          </p:cNvPicPr>
          <p:nvPr/>
        </p:nvPicPr>
        <p:blipFill>
          <a:blip r:embed="rId3"/>
          <a:stretch>
            <a:fillRect/>
          </a:stretch>
        </p:blipFill>
        <p:spPr>
          <a:xfrm>
            <a:off x="5605272" y="2331720"/>
            <a:ext cx="914400" cy="914400"/>
          </a:xfrm>
          <a:prstGeom prst="rect">
            <a:avLst/>
          </a:prstGeom>
        </p:spPr>
      </p:pic>
      <p:sp>
        <p:nvSpPr>
          <p:cNvPr id="7" name="Text 4"/>
          <p:cNvSpPr/>
          <p:nvPr/>
        </p:nvSpPr>
        <p:spPr>
          <a:xfrm>
            <a:off x="5074920" y="3310128"/>
            <a:ext cx="2011680" cy="256032"/>
          </a:xfrm>
          <a:prstGeom prst="rect">
            <a:avLst/>
          </a:prstGeom>
          <a:noFill/>
          <a:ln/>
        </p:spPr>
        <p:txBody>
          <a:bodyPr wrap="square" rtlCol="0" anchor="ctr"/>
          <a:lstStyle/>
          <a:p>
            <a:pPr marL="0" indent="0" algn="ctr" rtl="1">
              <a:buNone/>
            </a:pPr>
            <a:r>
              <a:rPr lang="en-US" sz="1200" b="1" dirty="0">
                <a:solidFill>
                  <a:srgbClr val="FFFFFF"/>
                </a:solidFill>
              </a:rPr>
              <a:t>منصة رعاية واحدة</a:t>
            </a:r>
            <a:endParaRPr lang="en-US" sz="1200" dirty="0"/>
          </a:p>
        </p:txBody>
      </p:sp>
      <p:sp>
        <p:nvSpPr>
          <p:cNvPr id="8" name="Shape 5"/>
          <p:cNvSpPr/>
          <p:nvPr/>
        </p:nvSpPr>
        <p:spPr>
          <a:xfrm>
            <a:off x="3611880" y="2560320"/>
            <a:ext cx="1234440" cy="0"/>
          </a:xfrm>
          <a:prstGeom prst="line">
            <a:avLst/>
          </a:prstGeom>
          <a:noFill/>
          <a:ln w="25400">
            <a:solidFill>
              <a:srgbClr val="D3B29D"/>
            </a:solidFill>
            <a:prstDash val="solid"/>
            <a:headEnd type="none"/>
            <a:tailEnd type="triangle"/>
          </a:ln>
        </p:spPr>
      </p:sp>
      <p:sp>
        <p:nvSpPr>
          <p:cNvPr id="9" name="Shape 6"/>
          <p:cNvSpPr/>
          <p:nvPr/>
        </p:nvSpPr>
        <p:spPr>
          <a:xfrm>
            <a:off x="7315200" y="2560320"/>
            <a:ext cx="1234440" cy="0"/>
          </a:xfrm>
          <a:prstGeom prst="line">
            <a:avLst/>
          </a:prstGeom>
          <a:noFill/>
          <a:ln w="25400">
            <a:solidFill>
              <a:srgbClr val="D3B29D"/>
            </a:solidFill>
            <a:prstDash val="solid"/>
            <a:headEnd type="none"/>
            <a:tailEnd type="triangle"/>
          </a:ln>
        </p:spPr>
      </p:sp>
      <p:sp>
        <p:nvSpPr>
          <p:cNvPr id="10" name="Shape 7"/>
          <p:cNvSpPr/>
          <p:nvPr/>
        </p:nvSpPr>
        <p:spPr>
          <a:xfrm>
            <a:off x="3840480" y="4160520"/>
            <a:ext cx="1097280" cy="0"/>
          </a:xfrm>
          <a:prstGeom prst="line">
            <a:avLst/>
          </a:prstGeom>
          <a:noFill/>
          <a:ln w="25400">
            <a:solidFill>
              <a:srgbClr val="D3B29D"/>
            </a:solidFill>
            <a:prstDash val="solid"/>
            <a:headEnd type="none"/>
            <a:tailEnd type="triangle"/>
          </a:ln>
        </p:spPr>
      </p:sp>
      <p:sp>
        <p:nvSpPr>
          <p:cNvPr id="11" name="Shape 8"/>
          <p:cNvSpPr/>
          <p:nvPr/>
        </p:nvSpPr>
        <p:spPr>
          <a:xfrm>
            <a:off x="7223760" y="4160520"/>
            <a:ext cx="1097280" cy="320040"/>
          </a:xfrm>
          <a:prstGeom prst="line">
            <a:avLst/>
          </a:prstGeom>
          <a:noFill/>
          <a:ln w="25400">
            <a:solidFill>
              <a:srgbClr val="D3B29D"/>
            </a:solidFill>
            <a:prstDash val="solid"/>
            <a:headEnd type="none"/>
            <a:tailEnd type="triangle"/>
          </a:ln>
        </p:spPr>
      </p:sp>
      <p:sp>
        <p:nvSpPr>
          <p:cNvPr id="12" name="Shape 9"/>
          <p:cNvSpPr/>
          <p:nvPr/>
        </p:nvSpPr>
        <p:spPr>
          <a:xfrm>
            <a:off x="594360" y="1874520"/>
            <a:ext cx="2971800" cy="1325880"/>
          </a:xfrm>
          <a:prstGeom prst="roundRect">
            <a:avLst>
              <a:gd name="adj" fmla="val 5517"/>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3" name="Shape 10"/>
          <p:cNvSpPr/>
          <p:nvPr/>
        </p:nvSpPr>
        <p:spPr>
          <a:xfrm>
            <a:off x="3502152" y="2039112"/>
            <a:ext cx="64008" cy="996696"/>
          </a:xfrm>
          <a:prstGeom prst="rect">
            <a:avLst/>
          </a:prstGeom>
          <a:solidFill>
            <a:srgbClr val="40584D"/>
          </a:solidFill>
          <a:ln w="12700">
            <a:solidFill>
              <a:srgbClr val="40584D"/>
            </a:solidFill>
            <a:prstDash val="solid"/>
          </a:ln>
        </p:spPr>
      </p:sp>
      <p:sp>
        <p:nvSpPr>
          <p:cNvPr id="14" name="Text 11"/>
          <p:cNvSpPr/>
          <p:nvPr/>
        </p:nvSpPr>
        <p:spPr>
          <a:xfrm>
            <a:off x="822960" y="2075688"/>
            <a:ext cx="2468880" cy="292608"/>
          </a:xfrm>
          <a:prstGeom prst="rect">
            <a:avLst/>
          </a:prstGeom>
          <a:noFill/>
          <a:ln/>
        </p:spPr>
        <p:txBody>
          <a:bodyPr wrap="square" rtlCol="0" anchor="ctr"/>
          <a:lstStyle/>
          <a:p>
            <a:pPr marL="0" indent="0" algn="r" rtl="1">
              <a:buNone/>
            </a:pPr>
            <a:r>
              <a:rPr lang="en-US" sz="1400" b="1" dirty="0">
                <a:solidFill>
                  <a:srgbClr val="1F2D27"/>
                </a:solidFill>
              </a:rPr>
              <a:t>مسؤولية واضحة</a:t>
            </a:r>
            <a:endParaRPr lang="en-US" sz="1400" dirty="0"/>
          </a:p>
        </p:txBody>
      </p:sp>
      <p:sp>
        <p:nvSpPr>
          <p:cNvPr id="15" name="Text 12"/>
          <p:cNvSpPr/>
          <p:nvPr/>
        </p:nvSpPr>
        <p:spPr>
          <a:xfrm>
            <a:off x="822960" y="2496312"/>
            <a:ext cx="2468880" cy="548640"/>
          </a:xfrm>
          <a:prstGeom prst="rect">
            <a:avLst/>
          </a:prstGeom>
          <a:noFill/>
          <a:ln/>
        </p:spPr>
        <p:txBody>
          <a:bodyPr wrap="square" lIns="254" tIns="254" rIns="254" bIns="254" rtlCol="0" anchor="t"/>
          <a:lstStyle/>
          <a:p>
            <a:pPr marL="0" indent="0" algn="r" rtl="1">
              <a:buNone/>
            </a:pPr>
            <a:r>
              <a:rPr lang="en-US" sz="1020" dirty="0">
                <a:solidFill>
                  <a:srgbClr val="52645B"/>
                </a:solidFill>
              </a:rPr>
              <a:t>Care Team + Current Caregiver</a:t>
            </a:r>
            <a:endParaRPr lang="en-US" sz="1020" dirty="0"/>
          </a:p>
          <a:p>
            <a:pPr marL="0" indent="0" algn="r" rtl="1">
              <a:buNone/>
            </a:pPr>
            <a:r>
              <a:rPr lang="en-US" sz="1020" dirty="0">
                <a:solidFill>
                  <a:srgbClr val="52645B"/>
                </a:solidFill>
              </a:rPr>
              <a:t>نعرف من ضمن الفريق ومن المسؤول الآن.</a:t>
            </a:r>
            <a:endParaRPr lang="en-US" sz="1020" dirty="0"/>
          </a:p>
        </p:txBody>
      </p:sp>
      <p:sp>
        <p:nvSpPr>
          <p:cNvPr id="16" name="Shape 13"/>
          <p:cNvSpPr/>
          <p:nvPr/>
        </p:nvSpPr>
        <p:spPr>
          <a:xfrm>
            <a:off x="8595360" y="1874520"/>
            <a:ext cx="2971800" cy="1325880"/>
          </a:xfrm>
          <a:prstGeom prst="roundRect">
            <a:avLst>
              <a:gd name="adj" fmla="val 5517"/>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7" name="Shape 14"/>
          <p:cNvSpPr/>
          <p:nvPr/>
        </p:nvSpPr>
        <p:spPr>
          <a:xfrm>
            <a:off x="11503152" y="2039112"/>
            <a:ext cx="64008" cy="996696"/>
          </a:xfrm>
          <a:prstGeom prst="rect">
            <a:avLst/>
          </a:prstGeom>
          <a:solidFill>
            <a:srgbClr val="82998A"/>
          </a:solidFill>
          <a:ln w="12700">
            <a:solidFill>
              <a:srgbClr val="82998A"/>
            </a:solidFill>
            <a:prstDash val="solid"/>
          </a:ln>
        </p:spPr>
      </p:sp>
      <p:sp>
        <p:nvSpPr>
          <p:cNvPr id="18" name="Text 15"/>
          <p:cNvSpPr/>
          <p:nvPr/>
        </p:nvSpPr>
        <p:spPr>
          <a:xfrm>
            <a:off x="8823960" y="2075688"/>
            <a:ext cx="2468880" cy="292608"/>
          </a:xfrm>
          <a:prstGeom prst="rect">
            <a:avLst/>
          </a:prstGeom>
          <a:noFill/>
          <a:ln/>
        </p:spPr>
        <p:txBody>
          <a:bodyPr wrap="square" rtlCol="0" anchor="ctr"/>
          <a:lstStyle/>
          <a:p>
            <a:pPr marL="0" indent="0" algn="r" rtl="1">
              <a:buNone/>
            </a:pPr>
            <a:r>
              <a:rPr lang="en-US" sz="1400" b="1" dirty="0">
                <a:solidFill>
                  <a:srgbClr val="1F2D27"/>
                </a:solidFill>
              </a:rPr>
              <a:t>رعاية يومية مترابطة</a:t>
            </a:r>
            <a:endParaRPr lang="en-US" sz="1400" dirty="0"/>
          </a:p>
        </p:txBody>
      </p:sp>
      <p:sp>
        <p:nvSpPr>
          <p:cNvPr id="19" name="Text 16"/>
          <p:cNvSpPr/>
          <p:nvPr/>
        </p:nvSpPr>
        <p:spPr>
          <a:xfrm>
            <a:off x="8823960" y="2496312"/>
            <a:ext cx="2468880" cy="548640"/>
          </a:xfrm>
          <a:prstGeom prst="rect">
            <a:avLst/>
          </a:prstGeom>
          <a:noFill/>
          <a:ln/>
        </p:spPr>
        <p:txBody>
          <a:bodyPr wrap="square" lIns="254" tIns="254" rIns="254" bIns="254" rtlCol="0" anchor="t"/>
          <a:lstStyle/>
          <a:p>
            <a:pPr marL="0" indent="0" algn="r" rtl="1">
              <a:buNone/>
            </a:pPr>
            <a:r>
              <a:rPr lang="en-US" sz="1020" dirty="0">
                <a:solidFill>
                  <a:srgbClr val="52645B"/>
                </a:solidFill>
              </a:rPr>
              <a:t>Medication • Tasks • Readings</a:t>
            </a:r>
            <a:endParaRPr lang="en-US" sz="1020" dirty="0"/>
          </a:p>
          <a:p>
            <a:pPr marL="0" indent="0" algn="r" rtl="1">
              <a:buNone/>
            </a:pPr>
            <a:r>
              <a:rPr lang="en-US" sz="1020" dirty="0">
                <a:solidFill>
                  <a:srgbClr val="52645B"/>
                </a:solidFill>
              </a:rPr>
              <a:t>كل بيانات المتابعة مرتبطة بنفس المريض.</a:t>
            </a:r>
            <a:endParaRPr lang="en-US" sz="1020" dirty="0"/>
          </a:p>
        </p:txBody>
      </p:sp>
      <p:sp>
        <p:nvSpPr>
          <p:cNvPr id="20" name="Shape 17"/>
          <p:cNvSpPr/>
          <p:nvPr/>
        </p:nvSpPr>
        <p:spPr>
          <a:xfrm>
            <a:off x="868680" y="4251960"/>
            <a:ext cx="2971800" cy="1325880"/>
          </a:xfrm>
          <a:prstGeom prst="roundRect">
            <a:avLst>
              <a:gd name="adj" fmla="val 5517"/>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21" name="Shape 18"/>
          <p:cNvSpPr/>
          <p:nvPr/>
        </p:nvSpPr>
        <p:spPr>
          <a:xfrm>
            <a:off x="3776472" y="4416552"/>
            <a:ext cx="64008" cy="996696"/>
          </a:xfrm>
          <a:prstGeom prst="rect">
            <a:avLst/>
          </a:prstGeom>
          <a:solidFill>
            <a:srgbClr val="B35C5C"/>
          </a:solidFill>
          <a:ln w="12700">
            <a:solidFill>
              <a:srgbClr val="B35C5C"/>
            </a:solidFill>
            <a:prstDash val="solid"/>
          </a:ln>
        </p:spPr>
      </p:sp>
      <p:sp>
        <p:nvSpPr>
          <p:cNvPr id="22" name="Text 19"/>
          <p:cNvSpPr/>
          <p:nvPr/>
        </p:nvSpPr>
        <p:spPr>
          <a:xfrm>
            <a:off x="1097280" y="4453128"/>
            <a:ext cx="2468880" cy="292608"/>
          </a:xfrm>
          <a:prstGeom prst="rect">
            <a:avLst/>
          </a:prstGeom>
          <a:noFill/>
          <a:ln/>
        </p:spPr>
        <p:txBody>
          <a:bodyPr wrap="square" rtlCol="0" anchor="ctr"/>
          <a:lstStyle/>
          <a:p>
            <a:pPr marL="0" indent="0" algn="r" rtl="1">
              <a:buNone/>
            </a:pPr>
            <a:r>
              <a:rPr lang="en-US" sz="1400" b="1" dirty="0">
                <a:solidFill>
                  <a:srgbClr val="1F2D27"/>
                </a:solidFill>
              </a:rPr>
              <a:t>استجابة أسرع</a:t>
            </a:r>
            <a:endParaRPr lang="en-US" sz="1400" dirty="0"/>
          </a:p>
        </p:txBody>
      </p:sp>
      <p:sp>
        <p:nvSpPr>
          <p:cNvPr id="23" name="Text 20"/>
          <p:cNvSpPr/>
          <p:nvPr/>
        </p:nvSpPr>
        <p:spPr>
          <a:xfrm>
            <a:off x="1097280" y="4873752"/>
            <a:ext cx="2468880" cy="548640"/>
          </a:xfrm>
          <a:prstGeom prst="rect">
            <a:avLst/>
          </a:prstGeom>
          <a:noFill/>
          <a:ln/>
        </p:spPr>
        <p:txBody>
          <a:bodyPr wrap="square" lIns="254" tIns="254" rIns="254" bIns="254" rtlCol="0" anchor="t"/>
          <a:lstStyle/>
          <a:p>
            <a:pPr marL="0" indent="0" algn="r" rtl="1">
              <a:buNone/>
            </a:pPr>
            <a:r>
              <a:rPr lang="en-US" sz="1020" dirty="0">
                <a:solidFill>
                  <a:srgbClr val="52645B"/>
                </a:solidFill>
              </a:rPr>
              <a:t>Incident + Low Stock + Handover</a:t>
            </a:r>
            <a:endParaRPr lang="en-US" sz="1020" dirty="0"/>
          </a:p>
          <a:p>
            <a:pPr marL="0" indent="0" algn="r" rtl="1">
              <a:buNone/>
            </a:pPr>
            <a:r>
              <a:rPr lang="en-US" sz="1020" dirty="0">
                <a:solidFill>
                  <a:srgbClr val="52645B"/>
                </a:solidFill>
              </a:rPr>
              <a:t>الأحداث المهمة تشغّل تنبيهات وإجراءات فعلية.</a:t>
            </a:r>
            <a:endParaRPr lang="en-US" sz="1020" dirty="0"/>
          </a:p>
        </p:txBody>
      </p:sp>
      <p:sp>
        <p:nvSpPr>
          <p:cNvPr id="24" name="Shape 21"/>
          <p:cNvSpPr/>
          <p:nvPr/>
        </p:nvSpPr>
        <p:spPr>
          <a:xfrm>
            <a:off x="8321040" y="4251960"/>
            <a:ext cx="2971800" cy="1325880"/>
          </a:xfrm>
          <a:prstGeom prst="roundRect">
            <a:avLst>
              <a:gd name="adj" fmla="val 5517"/>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25" name="Shape 22"/>
          <p:cNvSpPr/>
          <p:nvPr/>
        </p:nvSpPr>
        <p:spPr>
          <a:xfrm>
            <a:off x="11228832" y="4416552"/>
            <a:ext cx="64008" cy="996696"/>
          </a:xfrm>
          <a:prstGeom prst="rect">
            <a:avLst/>
          </a:prstGeom>
          <a:solidFill>
            <a:srgbClr val="B99367"/>
          </a:solidFill>
          <a:ln w="12700">
            <a:solidFill>
              <a:srgbClr val="B99367"/>
            </a:solidFill>
            <a:prstDash val="solid"/>
          </a:ln>
        </p:spPr>
      </p:sp>
      <p:sp>
        <p:nvSpPr>
          <p:cNvPr id="26" name="Text 23"/>
          <p:cNvSpPr/>
          <p:nvPr/>
        </p:nvSpPr>
        <p:spPr>
          <a:xfrm>
            <a:off x="8549640" y="4453128"/>
            <a:ext cx="2468880" cy="292608"/>
          </a:xfrm>
          <a:prstGeom prst="rect">
            <a:avLst/>
          </a:prstGeom>
          <a:noFill/>
          <a:ln/>
        </p:spPr>
        <p:txBody>
          <a:bodyPr wrap="square" rtlCol="0" anchor="ctr"/>
          <a:lstStyle/>
          <a:p>
            <a:pPr marL="0" indent="0" algn="r" rtl="1">
              <a:buNone/>
            </a:pPr>
            <a:r>
              <a:rPr lang="en-US" sz="1400" b="1" dirty="0">
                <a:solidFill>
                  <a:srgbClr val="1F2D27"/>
                </a:solidFill>
              </a:rPr>
              <a:t>استمرارية وملخص</a:t>
            </a:r>
            <a:endParaRPr lang="en-US" sz="1400" dirty="0"/>
          </a:p>
        </p:txBody>
      </p:sp>
      <p:sp>
        <p:nvSpPr>
          <p:cNvPr id="27" name="Text 24"/>
          <p:cNvSpPr/>
          <p:nvPr/>
        </p:nvSpPr>
        <p:spPr>
          <a:xfrm>
            <a:off x="8549640" y="4873752"/>
            <a:ext cx="2468880" cy="548640"/>
          </a:xfrm>
          <a:prstGeom prst="rect">
            <a:avLst/>
          </a:prstGeom>
          <a:noFill/>
          <a:ln/>
        </p:spPr>
        <p:txBody>
          <a:bodyPr wrap="square" lIns="254" tIns="254" rIns="254" bIns="254" rtlCol="0" anchor="t"/>
          <a:lstStyle/>
          <a:p>
            <a:pPr marL="0" indent="0" algn="r" rtl="1">
              <a:buNone/>
            </a:pPr>
            <a:r>
              <a:rPr lang="en-US" sz="1020" dirty="0">
                <a:solidFill>
                  <a:srgbClr val="52645B"/>
                </a:solidFill>
              </a:rPr>
              <a:t>Patient Code + Care History + AI</a:t>
            </a:r>
            <a:endParaRPr lang="en-US" sz="1020" dirty="0"/>
          </a:p>
          <a:p>
            <a:pPr marL="0" indent="0" algn="r" rtl="1">
              <a:buNone/>
            </a:pPr>
            <a:r>
              <a:rPr lang="en-US" sz="1020" dirty="0">
                <a:solidFill>
                  <a:srgbClr val="52645B"/>
                </a:solidFill>
              </a:rPr>
              <a:t>نحافظ على التاريخ ونحوّله لملخص واضح.</a:t>
            </a:r>
            <a:endParaRPr lang="en-US" sz="1020" dirty="0"/>
          </a:p>
        </p:txBody>
      </p:sp>
      <p:sp>
        <p:nvSpPr>
          <p:cNvPr id="28" name="Text 25"/>
          <p:cNvSpPr/>
          <p:nvPr/>
        </p:nvSpPr>
        <p:spPr>
          <a:xfrm>
            <a:off x="1828800" y="5897880"/>
            <a:ext cx="8503920" cy="292608"/>
          </a:xfrm>
          <a:prstGeom prst="rect">
            <a:avLst/>
          </a:prstGeom>
          <a:noFill/>
          <a:ln/>
        </p:spPr>
        <p:txBody>
          <a:bodyPr wrap="square" rtlCol="0" anchor="ctr"/>
          <a:lstStyle/>
          <a:p>
            <a:pPr marL="0" indent="0" algn="ctr" rtl="1">
              <a:buNone/>
            </a:pPr>
            <a:r>
              <a:rPr lang="en-US" sz="1150" b="1" dirty="0">
                <a:solidFill>
                  <a:srgbClr val="40584D"/>
                </a:solidFill>
              </a:rPr>
              <a:t>الفكرة: يسر لا يستبدل مقدم الرعاية — ينظم انتقال المعلومة والمسؤولية بين أفراد العائلة.</a:t>
            </a:r>
            <a:endParaRPr lang="en-US" sz="1150" dirty="0"/>
          </a:p>
        </p:txBody>
      </p:sp>
      <p:sp>
        <p:nvSpPr>
          <p:cNvPr id="29"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رحلة الرعاية داخل يسر</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CORE CARE WORKFLOW</a:t>
            </a:r>
            <a:endParaRPr lang="en-US" sz="800" dirty="0"/>
          </a:p>
        </p:txBody>
      </p:sp>
      <p:sp>
        <p:nvSpPr>
          <p:cNvPr id="4" name="Text 2"/>
          <p:cNvSpPr/>
          <p:nvPr/>
        </p:nvSpPr>
        <p:spPr>
          <a:xfrm>
            <a:off x="731520" y="1417320"/>
            <a:ext cx="10789920" cy="320040"/>
          </a:xfrm>
          <a:prstGeom prst="rect">
            <a:avLst/>
          </a:prstGeom>
          <a:noFill/>
          <a:ln/>
        </p:spPr>
        <p:txBody>
          <a:bodyPr wrap="square" rtlCol="0" anchor="ctr"/>
          <a:lstStyle/>
          <a:p>
            <a:pPr marL="0" indent="0" algn="r" rtl="1">
              <a:buNone/>
            </a:pPr>
            <a:r>
              <a:rPr lang="en-US" sz="1200" dirty="0">
                <a:solidFill>
                  <a:srgbClr val="82998A"/>
                </a:solidFill>
              </a:rPr>
              <a:t>كل ميزة في المشروع تخدم هذه الرحلة، وليس مجرد CRUD منفصل.</a:t>
            </a:r>
            <a:endParaRPr lang="en-US" sz="1200" dirty="0"/>
          </a:p>
        </p:txBody>
      </p:sp>
      <p:sp>
        <p:nvSpPr>
          <p:cNvPr id="5" name="Shape 3"/>
          <p:cNvSpPr/>
          <p:nvPr/>
        </p:nvSpPr>
        <p:spPr>
          <a:xfrm>
            <a:off x="1920240" y="2468880"/>
            <a:ext cx="347472" cy="310896"/>
          </a:xfrm>
          <a:prstGeom prst="chevron">
            <a:avLst/>
          </a:prstGeom>
          <a:solidFill>
            <a:srgbClr val="D3B29D"/>
          </a:solidFill>
          <a:ln w="12700">
            <a:solidFill>
              <a:srgbClr val="D3B29D"/>
            </a:solidFill>
            <a:prstDash val="solid"/>
          </a:ln>
        </p:spPr>
      </p:sp>
      <p:sp>
        <p:nvSpPr>
          <p:cNvPr id="6" name="Shape 4"/>
          <p:cNvSpPr/>
          <p:nvPr/>
        </p:nvSpPr>
        <p:spPr>
          <a:xfrm>
            <a:off x="502920" y="2057400"/>
            <a:ext cx="1600200" cy="1143000"/>
          </a:xfrm>
          <a:prstGeom prst="roundRect">
            <a:avLst>
              <a:gd name="adj" fmla="val 6400"/>
            </a:avLst>
          </a:prstGeom>
          <a:solidFill>
            <a:srgbClr val="FFFFFF"/>
          </a:solidFill>
          <a:ln w="15240">
            <a:solidFill>
              <a:srgbClr val="CFD8D2"/>
            </a:solidFill>
            <a:prstDash val="solid"/>
          </a:ln>
        </p:spPr>
      </p:sp>
      <p:sp>
        <p:nvSpPr>
          <p:cNvPr id="7" name="Text 5"/>
          <p:cNvSpPr/>
          <p:nvPr/>
        </p:nvSpPr>
        <p:spPr>
          <a:xfrm>
            <a:off x="1060704" y="2194560"/>
            <a:ext cx="475488" cy="256032"/>
          </a:xfrm>
          <a:prstGeom prst="rect">
            <a:avLst/>
          </a:prstGeom>
          <a:noFill/>
          <a:ln/>
        </p:spPr>
        <p:txBody>
          <a:bodyPr wrap="square" rtlCol="0" anchor="ctr"/>
          <a:lstStyle/>
          <a:p>
            <a:pPr marL="0" indent="0" algn="ctr">
              <a:buNone/>
            </a:pPr>
            <a:r>
              <a:rPr lang="en-US" sz="1500" b="1" dirty="0">
                <a:solidFill>
                  <a:srgbClr val="40584D"/>
                </a:solidFill>
              </a:rPr>
              <a:t>1</a:t>
            </a:r>
            <a:endParaRPr lang="en-US" sz="1500" dirty="0"/>
          </a:p>
        </p:txBody>
      </p:sp>
      <p:sp>
        <p:nvSpPr>
          <p:cNvPr id="8" name="Text 6"/>
          <p:cNvSpPr/>
          <p:nvPr/>
        </p:nvSpPr>
        <p:spPr>
          <a:xfrm>
            <a:off x="640080" y="2578608"/>
            <a:ext cx="1325880" cy="347472"/>
          </a:xfrm>
          <a:prstGeom prst="rect">
            <a:avLst/>
          </a:prstGeom>
          <a:noFill/>
          <a:ln/>
        </p:spPr>
        <p:txBody>
          <a:bodyPr wrap="square" rtlCol="0" anchor="ctr"/>
          <a:lstStyle/>
          <a:p>
            <a:pPr marL="0" indent="0" algn="ctr" rtl="1">
              <a:buNone/>
            </a:pPr>
            <a:r>
              <a:rPr lang="en-US" sz="850" b="1" dirty="0">
                <a:solidFill>
                  <a:srgbClr val="1F2D27"/>
                </a:solidFill>
              </a:rPr>
              <a:t>إنشاء / ربط المريض</a:t>
            </a:r>
            <a:endParaRPr lang="en-US" sz="850" dirty="0"/>
          </a:p>
        </p:txBody>
      </p:sp>
      <p:sp>
        <p:nvSpPr>
          <p:cNvPr id="9" name="Shape 7"/>
          <p:cNvSpPr/>
          <p:nvPr/>
        </p:nvSpPr>
        <p:spPr>
          <a:xfrm>
            <a:off x="3840480" y="2468880"/>
            <a:ext cx="347472" cy="310896"/>
          </a:xfrm>
          <a:prstGeom prst="chevron">
            <a:avLst/>
          </a:prstGeom>
          <a:solidFill>
            <a:srgbClr val="D3B29D"/>
          </a:solidFill>
          <a:ln w="12700">
            <a:solidFill>
              <a:srgbClr val="D3B29D"/>
            </a:solidFill>
            <a:prstDash val="solid"/>
          </a:ln>
        </p:spPr>
      </p:sp>
      <p:sp>
        <p:nvSpPr>
          <p:cNvPr id="10" name="Shape 8"/>
          <p:cNvSpPr/>
          <p:nvPr/>
        </p:nvSpPr>
        <p:spPr>
          <a:xfrm>
            <a:off x="2423160" y="2057400"/>
            <a:ext cx="1600200" cy="1143000"/>
          </a:xfrm>
          <a:prstGeom prst="roundRect">
            <a:avLst>
              <a:gd name="adj" fmla="val 6400"/>
            </a:avLst>
          </a:prstGeom>
          <a:solidFill>
            <a:srgbClr val="FFFFFF"/>
          </a:solidFill>
          <a:ln w="15240">
            <a:solidFill>
              <a:srgbClr val="CFD8D2"/>
            </a:solidFill>
            <a:prstDash val="solid"/>
          </a:ln>
        </p:spPr>
      </p:sp>
      <p:sp>
        <p:nvSpPr>
          <p:cNvPr id="11" name="Text 9"/>
          <p:cNvSpPr/>
          <p:nvPr/>
        </p:nvSpPr>
        <p:spPr>
          <a:xfrm>
            <a:off x="2980944" y="2194560"/>
            <a:ext cx="475488" cy="256032"/>
          </a:xfrm>
          <a:prstGeom prst="rect">
            <a:avLst/>
          </a:prstGeom>
          <a:noFill/>
          <a:ln/>
        </p:spPr>
        <p:txBody>
          <a:bodyPr wrap="square" rtlCol="0" anchor="ctr"/>
          <a:lstStyle/>
          <a:p>
            <a:pPr marL="0" indent="0" algn="ctr">
              <a:buNone/>
            </a:pPr>
            <a:r>
              <a:rPr lang="en-US" sz="1500" b="1" dirty="0">
                <a:solidFill>
                  <a:srgbClr val="40584D"/>
                </a:solidFill>
              </a:rPr>
              <a:t>2</a:t>
            </a:r>
            <a:endParaRPr lang="en-US" sz="1500" dirty="0"/>
          </a:p>
        </p:txBody>
      </p:sp>
      <p:sp>
        <p:nvSpPr>
          <p:cNvPr id="12" name="Text 10"/>
          <p:cNvSpPr/>
          <p:nvPr/>
        </p:nvSpPr>
        <p:spPr>
          <a:xfrm>
            <a:off x="2560320" y="2578608"/>
            <a:ext cx="1325880" cy="347472"/>
          </a:xfrm>
          <a:prstGeom prst="rect">
            <a:avLst/>
          </a:prstGeom>
          <a:noFill/>
          <a:ln/>
        </p:spPr>
        <p:txBody>
          <a:bodyPr wrap="square" rtlCol="0" anchor="ctr"/>
          <a:lstStyle/>
          <a:p>
            <a:pPr marL="0" indent="0" algn="ctr" rtl="1">
              <a:buNone/>
            </a:pPr>
            <a:r>
              <a:rPr lang="en-US" sz="850" b="1" dirty="0">
                <a:solidFill>
                  <a:srgbClr val="1F2D27"/>
                </a:solidFill>
              </a:rPr>
              <a:t>تكوين فريق الرعاية</a:t>
            </a:r>
            <a:endParaRPr lang="en-US" sz="850" dirty="0"/>
          </a:p>
        </p:txBody>
      </p:sp>
      <p:sp>
        <p:nvSpPr>
          <p:cNvPr id="13" name="Shape 11"/>
          <p:cNvSpPr/>
          <p:nvPr/>
        </p:nvSpPr>
        <p:spPr>
          <a:xfrm>
            <a:off x="5760720" y="2468880"/>
            <a:ext cx="347472" cy="310896"/>
          </a:xfrm>
          <a:prstGeom prst="chevron">
            <a:avLst/>
          </a:prstGeom>
          <a:solidFill>
            <a:srgbClr val="D3B29D"/>
          </a:solidFill>
          <a:ln w="12700">
            <a:solidFill>
              <a:srgbClr val="D3B29D"/>
            </a:solidFill>
            <a:prstDash val="solid"/>
          </a:ln>
        </p:spPr>
      </p:sp>
      <p:sp>
        <p:nvSpPr>
          <p:cNvPr id="14" name="Shape 12"/>
          <p:cNvSpPr/>
          <p:nvPr/>
        </p:nvSpPr>
        <p:spPr>
          <a:xfrm>
            <a:off x="4343400" y="2057400"/>
            <a:ext cx="1600200" cy="1143000"/>
          </a:xfrm>
          <a:prstGeom prst="roundRect">
            <a:avLst>
              <a:gd name="adj" fmla="val 6400"/>
            </a:avLst>
          </a:prstGeom>
          <a:solidFill>
            <a:srgbClr val="40584D"/>
          </a:solidFill>
          <a:ln w="15240">
            <a:solidFill>
              <a:srgbClr val="40584D"/>
            </a:solidFill>
            <a:prstDash val="solid"/>
          </a:ln>
        </p:spPr>
      </p:sp>
      <p:sp>
        <p:nvSpPr>
          <p:cNvPr id="15" name="Text 13"/>
          <p:cNvSpPr/>
          <p:nvPr/>
        </p:nvSpPr>
        <p:spPr>
          <a:xfrm>
            <a:off x="4901184" y="2194560"/>
            <a:ext cx="475488" cy="256032"/>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16" name="Text 14"/>
          <p:cNvSpPr/>
          <p:nvPr/>
        </p:nvSpPr>
        <p:spPr>
          <a:xfrm>
            <a:off x="4480560" y="2578608"/>
            <a:ext cx="1325880" cy="347472"/>
          </a:xfrm>
          <a:prstGeom prst="rect">
            <a:avLst/>
          </a:prstGeom>
          <a:noFill/>
          <a:ln/>
        </p:spPr>
        <p:txBody>
          <a:bodyPr wrap="square" rtlCol="0" anchor="ctr"/>
          <a:lstStyle/>
          <a:p>
            <a:pPr marL="0" indent="0" algn="ctr" rtl="1">
              <a:buNone/>
            </a:pPr>
            <a:r>
              <a:rPr lang="en-US" sz="850" b="1" dirty="0">
                <a:solidFill>
                  <a:srgbClr val="FFFFFF"/>
                </a:solidFill>
              </a:rPr>
              <a:t>تحديد Current Caregiver</a:t>
            </a:r>
            <a:endParaRPr lang="en-US" sz="850" dirty="0"/>
          </a:p>
        </p:txBody>
      </p:sp>
      <p:sp>
        <p:nvSpPr>
          <p:cNvPr id="17" name="Shape 15"/>
          <p:cNvSpPr/>
          <p:nvPr/>
        </p:nvSpPr>
        <p:spPr>
          <a:xfrm>
            <a:off x="7680960" y="2468880"/>
            <a:ext cx="347472" cy="310896"/>
          </a:xfrm>
          <a:prstGeom prst="chevron">
            <a:avLst/>
          </a:prstGeom>
          <a:solidFill>
            <a:srgbClr val="D3B29D"/>
          </a:solidFill>
          <a:ln w="12700">
            <a:solidFill>
              <a:srgbClr val="D3B29D"/>
            </a:solidFill>
            <a:prstDash val="solid"/>
          </a:ln>
        </p:spPr>
      </p:sp>
      <p:sp>
        <p:nvSpPr>
          <p:cNvPr id="18" name="Shape 16"/>
          <p:cNvSpPr/>
          <p:nvPr/>
        </p:nvSpPr>
        <p:spPr>
          <a:xfrm>
            <a:off x="6263640" y="2057400"/>
            <a:ext cx="1600200" cy="1143000"/>
          </a:xfrm>
          <a:prstGeom prst="roundRect">
            <a:avLst>
              <a:gd name="adj" fmla="val 6400"/>
            </a:avLst>
          </a:prstGeom>
          <a:solidFill>
            <a:srgbClr val="FFFFFF"/>
          </a:solidFill>
          <a:ln w="15240">
            <a:solidFill>
              <a:srgbClr val="CFD8D2"/>
            </a:solidFill>
            <a:prstDash val="solid"/>
          </a:ln>
        </p:spPr>
      </p:sp>
      <p:sp>
        <p:nvSpPr>
          <p:cNvPr id="19" name="Text 17"/>
          <p:cNvSpPr/>
          <p:nvPr/>
        </p:nvSpPr>
        <p:spPr>
          <a:xfrm>
            <a:off x="6821424" y="2194560"/>
            <a:ext cx="475488" cy="256032"/>
          </a:xfrm>
          <a:prstGeom prst="rect">
            <a:avLst/>
          </a:prstGeom>
          <a:noFill/>
          <a:ln/>
        </p:spPr>
        <p:txBody>
          <a:bodyPr wrap="square" rtlCol="0" anchor="ctr"/>
          <a:lstStyle/>
          <a:p>
            <a:pPr marL="0" indent="0" algn="ctr">
              <a:buNone/>
            </a:pPr>
            <a:r>
              <a:rPr lang="en-US" sz="1500" b="1" dirty="0">
                <a:solidFill>
                  <a:srgbClr val="40584D"/>
                </a:solidFill>
              </a:rPr>
              <a:t>4</a:t>
            </a:r>
            <a:endParaRPr lang="en-US" sz="1500" dirty="0"/>
          </a:p>
        </p:txBody>
      </p:sp>
      <p:sp>
        <p:nvSpPr>
          <p:cNvPr id="20" name="Text 18"/>
          <p:cNvSpPr/>
          <p:nvPr/>
        </p:nvSpPr>
        <p:spPr>
          <a:xfrm>
            <a:off x="6400800" y="2578608"/>
            <a:ext cx="1325880" cy="347472"/>
          </a:xfrm>
          <a:prstGeom prst="rect">
            <a:avLst/>
          </a:prstGeom>
          <a:noFill/>
          <a:ln/>
        </p:spPr>
        <p:txBody>
          <a:bodyPr wrap="square" rtlCol="0" anchor="ctr"/>
          <a:lstStyle/>
          <a:p>
            <a:pPr marL="0" indent="0" algn="ctr" rtl="1">
              <a:buNone/>
            </a:pPr>
            <a:r>
              <a:rPr lang="en-US" sz="850" b="1" dirty="0">
                <a:solidFill>
                  <a:srgbClr val="1F2D27"/>
                </a:solidFill>
              </a:rPr>
              <a:t>رعاية يومية</a:t>
            </a:r>
            <a:endParaRPr lang="en-US" sz="850" dirty="0"/>
          </a:p>
        </p:txBody>
      </p:sp>
      <p:sp>
        <p:nvSpPr>
          <p:cNvPr id="21" name="Shape 19"/>
          <p:cNvSpPr/>
          <p:nvPr/>
        </p:nvSpPr>
        <p:spPr>
          <a:xfrm>
            <a:off x="9601200" y="2468880"/>
            <a:ext cx="347472" cy="310896"/>
          </a:xfrm>
          <a:prstGeom prst="chevron">
            <a:avLst/>
          </a:prstGeom>
          <a:solidFill>
            <a:srgbClr val="D3B29D"/>
          </a:solidFill>
          <a:ln w="12700">
            <a:solidFill>
              <a:srgbClr val="D3B29D"/>
            </a:solidFill>
            <a:prstDash val="solid"/>
          </a:ln>
        </p:spPr>
      </p:sp>
      <p:sp>
        <p:nvSpPr>
          <p:cNvPr id="22" name="Shape 20"/>
          <p:cNvSpPr/>
          <p:nvPr/>
        </p:nvSpPr>
        <p:spPr>
          <a:xfrm>
            <a:off x="8183880" y="2057400"/>
            <a:ext cx="1600200" cy="1143000"/>
          </a:xfrm>
          <a:prstGeom prst="roundRect">
            <a:avLst>
              <a:gd name="adj" fmla="val 6400"/>
            </a:avLst>
          </a:prstGeom>
          <a:solidFill>
            <a:srgbClr val="FFFFFF"/>
          </a:solidFill>
          <a:ln w="15240">
            <a:solidFill>
              <a:srgbClr val="CFD8D2"/>
            </a:solidFill>
            <a:prstDash val="solid"/>
          </a:ln>
        </p:spPr>
      </p:sp>
      <p:sp>
        <p:nvSpPr>
          <p:cNvPr id="23" name="Text 21"/>
          <p:cNvSpPr/>
          <p:nvPr/>
        </p:nvSpPr>
        <p:spPr>
          <a:xfrm>
            <a:off x="8741664" y="2194560"/>
            <a:ext cx="475488" cy="256032"/>
          </a:xfrm>
          <a:prstGeom prst="rect">
            <a:avLst/>
          </a:prstGeom>
          <a:noFill/>
          <a:ln/>
        </p:spPr>
        <p:txBody>
          <a:bodyPr wrap="square" rtlCol="0" anchor="ctr"/>
          <a:lstStyle/>
          <a:p>
            <a:pPr marL="0" indent="0" algn="ctr">
              <a:buNone/>
            </a:pPr>
            <a:r>
              <a:rPr lang="en-US" sz="1500" b="1" dirty="0">
                <a:solidFill>
                  <a:srgbClr val="40584D"/>
                </a:solidFill>
              </a:rPr>
              <a:t>5</a:t>
            </a:r>
            <a:endParaRPr lang="en-US" sz="1500" dirty="0"/>
          </a:p>
        </p:txBody>
      </p:sp>
      <p:sp>
        <p:nvSpPr>
          <p:cNvPr id="24" name="Text 22"/>
          <p:cNvSpPr/>
          <p:nvPr/>
        </p:nvSpPr>
        <p:spPr>
          <a:xfrm>
            <a:off x="8321040" y="2578608"/>
            <a:ext cx="1325880" cy="347472"/>
          </a:xfrm>
          <a:prstGeom prst="rect">
            <a:avLst/>
          </a:prstGeom>
          <a:noFill/>
          <a:ln/>
        </p:spPr>
        <p:txBody>
          <a:bodyPr wrap="square" rtlCol="0" anchor="ctr"/>
          <a:lstStyle/>
          <a:p>
            <a:pPr marL="0" indent="0" algn="ctr" rtl="1">
              <a:buNone/>
            </a:pPr>
            <a:r>
              <a:rPr lang="en-US" sz="850" b="1" dirty="0">
                <a:solidFill>
                  <a:srgbClr val="1F2D27"/>
                </a:solidFill>
              </a:rPr>
              <a:t>حدث يحتاج تصرف</a:t>
            </a:r>
            <a:endParaRPr lang="en-US" sz="850" dirty="0"/>
          </a:p>
        </p:txBody>
      </p:sp>
      <p:sp>
        <p:nvSpPr>
          <p:cNvPr id="25" name="Shape 23"/>
          <p:cNvSpPr/>
          <p:nvPr/>
        </p:nvSpPr>
        <p:spPr>
          <a:xfrm>
            <a:off x="10104120" y="2057400"/>
            <a:ext cx="1600200" cy="1143000"/>
          </a:xfrm>
          <a:prstGeom prst="roundRect">
            <a:avLst>
              <a:gd name="adj" fmla="val 6400"/>
            </a:avLst>
          </a:prstGeom>
          <a:solidFill>
            <a:srgbClr val="FFFFFF"/>
          </a:solidFill>
          <a:ln w="15240">
            <a:solidFill>
              <a:srgbClr val="CFD8D2"/>
            </a:solidFill>
            <a:prstDash val="solid"/>
          </a:ln>
        </p:spPr>
      </p:sp>
      <p:sp>
        <p:nvSpPr>
          <p:cNvPr id="26" name="Text 24"/>
          <p:cNvSpPr/>
          <p:nvPr/>
        </p:nvSpPr>
        <p:spPr>
          <a:xfrm>
            <a:off x="10661904" y="2194560"/>
            <a:ext cx="475488" cy="256032"/>
          </a:xfrm>
          <a:prstGeom prst="rect">
            <a:avLst/>
          </a:prstGeom>
          <a:noFill/>
          <a:ln/>
        </p:spPr>
        <p:txBody>
          <a:bodyPr wrap="square" rtlCol="0" anchor="ctr"/>
          <a:lstStyle/>
          <a:p>
            <a:pPr marL="0" indent="0" algn="ctr">
              <a:buNone/>
            </a:pPr>
            <a:r>
              <a:rPr lang="en-US" sz="1500" b="1" dirty="0">
                <a:solidFill>
                  <a:srgbClr val="40584D"/>
                </a:solidFill>
              </a:rPr>
              <a:t>6</a:t>
            </a:r>
            <a:endParaRPr lang="en-US" sz="1500" dirty="0"/>
          </a:p>
        </p:txBody>
      </p:sp>
      <p:sp>
        <p:nvSpPr>
          <p:cNvPr id="27" name="Text 25"/>
          <p:cNvSpPr/>
          <p:nvPr/>
        </p:nvSpPr>
        <p:spPr>
          <a:xfrm>
            <a:off x="10241280" y="2578608"/>
            <a:ext cx="1325880" cy="347472"/>
          </a:xfrm>
          <a:prstGeom prst="rect">
            <a:avLst/>
          </a:prstGeom>
          <a:noFill/>
          <a:ln/>
        </p:spPr>
        <p:txBody>
          <a:bodyPr wrap="square" rtlCol="0" anchor="ctr"/>
          <a:lstStyle/>
          <a:p>
            <a:pPr marL="0" indent="0" algn="ctr" rtl="1">
              <a:buNone/>
            </a:pPr>
            <a:r>
              <a:rPr lang="en-US" sz="850" b="1" dirty="0">
                <a:solidFill>
                  <a:srgbClr val="1F2D27"/>
                </a:solidFill>
              </a:rPr>
              <a:t>تاريخ وملخص ذكي</a:t>
            </a:r>
            <a:endParaRPr lang="en-US" sz="850" dirty="0"/>
          </a:p>
        </p:txBody>
      </p:sp>
      <p:sp>
        <p:nvSpPr>
          <p:cNvPr id="28" name="Shape 26"/>
          <p:cNvSpPr/>
          <p:nvPr/>
        </p:nvSpPr>
        <p:spPr>
          <a:xfrm>
            <a:off x="914400" y="3886200"/>
            <a:ext cx="2880360" cy="1280160"/>
          </a:xfrm>
          <a:prstGeom prst="roundRect">
            <a:avLst>
              <a:gd name="adj" fmla="val 571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29" name="Shape 27"/>
          <p:cNvSpPr/>
          <p:nvPr/>
        </p:nvSpPr>
        <p:spPr>
          <a:xfrm>
            <a:off x="3730752" y="4050792"/>
            <a:ext cx="64008" cy="950976"/>
          </a:xfrm>
          <a:prstGeom prst="rect">
            <a:avLst/>
          </a:prstGeom>
          <a:solidFill>
            <a:srgbClr val="82998A"/>
          </a:solidFill>
          <a:ln w="12700">
            <a:solidFill>
              <a:srgbClr val="82998A"/>
            </a:solidFill>
            <a:prstDash val="solid"/>
          </a:ln>
        </p:spPr>
      </p:sp>
      <p:sp>
        <p:nvSpPr>
          <p:cNvPr id="30" name="Text 28"/>
          <p:cNvSpPr/>
          <p:nvPr/>
        </p:nvSpPr>
        <p:spPr>
          <a:xfrm>
            <a:off x="1143000" y="4087368"/>
            <a:ext cx="2377440" cy="292608"/>
          </a:xfrm>
          <a:prstGeom prst="rect">
            <a:avLst/>
          </a:prstGeom>
          <a:noFill/>
          <a:ln/>
        </p:spPr>
        <p:txBody>
          <a:bodyPr wrap="square" rtlCol="0" anchor="ctr"/>
          <a:lstStyle/>
          <a:p>
            <a:pPr marL="0" indent="0" algn="r" rtl="1">
              <a:buNone/>
            </a:pPr>
            <a:r>
              <a:rPr lang="en-US" sz="1400" b="1" dirty="0">
                <a:solidFill>
                  <a:srgbClr val="1F2D27"/>
                </a:solidFill>
              </a:rPr>
              <a:t>الرعاية اليومية</a:t>
            </a:r>
            <a:endParaRPr lang="en-US" sz="1400" dirty="0"/>
          </a:p>
        </p:txBody>
      </p:sp>
      <p:sp>
        <p:nvSpPr>
          <p:cNvPr id="31" name="Text 29"/>
          <p:cNvSpPr/>
          <p:nvPr/>
        </p:nvSpPr>
        <p:spPr>
          <a:xfrm>
            <a:off x="1143000" y="4507992"/>
            <a:ext cx="2377440" cy="502920"/>
          </a:xfrm>
          <a:prstGeom prst="rect">
            <a:avLst/>
          </a:prstGeom>
          <a:noFill/>
          <a:ln/>
        </p:spPr>
        <p:txBody>
          <a:bodyPr wrap="square" lIns="254" tIns="254" rIns="254" bIns="254" rtlCol="0" anchor="t"/>
          <a:lstStyle/>
          <a:p>
            <a:pPr marL="0" indent="0" algn="r" rtl="1">
              <a:buNone/>
            </a:pPr>
            <a:r>
              <a:rPr lang="en-US" sz="1020" dirty="0">
                <a:solidFill>
                  <a:srgbClr val="52645B"/>
                </a:solidFill>
              </a:rPr>
              <a:t>Medication → Schedule → Log → Stock</a:t>
            </a:r>
            <a:endParaRPr lang="en-US" sz="1020" dirty="0"/>
          </a:p>
          <a:p>
            <a:pPr marL="0" indent="0" algn="r" rtl="1">
              <a:buNone/>
            </a:pPr>
            <a:r>
              <a:rPr lang="en-US" sz="1020" dirty="0">
                <a:solidFill>
                  <a:srgbClr val="52645B"/>
                </a:solidFill>
              </a:rPr>
              <a:t>Health Readings + Care Tasks</a:t>
            </a:r>
            <a:endParaRPr lang="en-US" sz="1020" dirty="0"/>
          </a:p>
        </p:txBody>
      </p:sp>
      <p:sp>
        <p:nvSpPr>
          <p:cNvPr id="32" name="Shape 30"/>
          <p:cNvSpPr/>
          <p:nvPr/>
        </p:nvSpPr>
        <p:spPr>
          <a:xfrm>
            <a:off x="4663440" y="3886200"/>
            <a:ext cx="2880360" cy="1280160"/>
          </a:xfrm>
          <a:prstGeom prst="roundRect">
            <a:avLst>
              <a:gd name="adj" fmla="val 571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33" name="Shape 31"/>
          <p:cNvSpPr/>
          <p:nvPr/>
        </p:nvSpPr>
        <p:spPr>
          <a:xfrm>
            <a:off x="7479792" y="4050792"/>
            <a:ext cx="64008" cy="950976"/>
          </a:xfrm>
          <a:prstGeom prst="rect">
            <a:avLst/>
          </a:prstGeom>
          <a:solidFill>
            <a:srgbClr val="D3B29D"/>
          </a:solidFill>
          <a:ln w="12700">
            <a:solidFill>
              <a:srgbClr val="D3B29D"/>
            </a:solidFill>
            <a:prstDash val="solid"/>
          </a:ln>
        </p:spPr>
      </p:sp>
      <p:sp>
        <p:nvSpPr>
          <p:cNvPr id="34" name="Text 32"/>
          <p:cNvSpPr/>
          <p:nvPr/>
        </p:nvSpPr>
        <p:spPr>
          <a:xfrm>
            <a:off x="4892040" y="4087368"/>
            <a:ext cx="2377440" cy="292608"/>
          </a:xfrm>
          <a:prstGeom prst="rect">
            <a:avLst/>
          </a:prstGeom>
          <a:noFill/>
          <a:ln/>
        </p:spPr>
        <p:txBody>
          <a:bodyPr wrap="square" rtlCol="0" anchor="ctr"/>
          <a:lstStyle/>
          <a:p>
            <a:pPr marL="0" indent="0" algn="r" rtl="1">
              <a:buNone/>
            </a:pPr>
            <a:r>
              <a:rPr lang="en-US" sz="1400" b="1" dirty="0">
                <a:solidFill>
                  <a:srgbClr val="1F2D27"/>
                </a:solidFill>
              </a:rPr>
              <a:t>تغيّر المسؤولية</a:t>
            </a:r>
            <a:endParaRPr lang="en-US" sz="1400" dirty="0"/>
          </a:p>
        </p:txBody>
      </p:sp>
      <p:sp>
        <p:nvSpPr>
          <p:cNvPr id="35" name="Text 33"/>
          <p:cNvSpPr/>
          <p:nvPr/>
        </p:nvSpPr>
        <p:spPr>
          <a:xfrm>
            <a:off x="4892040" y="4507992"/>
            <a:ext cx="2377440" cy="502920"/>
          </a:xfrm>
          <a:prstGeom prst="rect">
            <a:avLst/>
          </a:prstGeom>
          <a:noFill/>
          <a:ln/>
        </p:spPr>
        <p:txBody>
          <a:bodyPr wrap="square" lIns="254" tIns="254" rIns="254" bIns="254" rtlCol="0" anchor="t"/>
          <a:lstStyle/>
          <a:p>
            <a:pPr marL="0" indent="0" algn="r" rtl="1">
              <a:buNone/>
            </a:pPr>
            <a:r>
              <a:rPr lang="en-US" sz="1020" dirty="0">
                <a:solidFill>
                  <a:srgbClr val="52645B"/>
                </a:solidFill>
              </a:rPr>
              <a:t>Handover → Accept → Current Caregiver</a:t>
            </a:r>
            <a:endParaRPr lang="en-US" sz="1020" dirty="0"/>
          </a:p>
          <a:p>
            <a:pPr marL="0" indent="0" algn="r" rtl="1">
              <a:buNone/>
            </a:pPr>
            <a:r>
              <a:rPr lang="en-US" sz="1020" dirty="0">
                <a:solidFill>
                  <a:srgbClr val="52645B"/>
                </a:solidFill>
              </a:rPr>
              <a:t>+ نقل كل Pending Tasks</a:t>
            </a:r>
            <a:endParaRPr lang="en-US" sz="1020" dirty="0"/>
          </a:p>
        </p:txBody>
      </p:sp>
      <p:sp>
        <p:nvSpPr>
          <p:cNvPr id="36" name="Shape 34"/>
          <p:cNvSpPr/>
          <p:nvPr/>
        </p:nvSpPr>
        <p:spPr>
          <a:xfrm>
            <a:off x="8412480" y="3886200"/>
            <a:ext cx="2880360" cy="1280160"/>
          </a:xfrm>
          <a:prstGeom prst="roundRect">
            <a:avLst>
              <a:gd name="adj" fmla="val 571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37" name="Shape 35"/>
          <p:cNvSpPr/>
          <p:nvPr/>
        </p:nvSpPr>
        <p:spPr>
          <a:xfrm>
            <a:off x="11228832" y="4050792"/>
            <a:ext cx="64008" cy="950976"/>
          </a:xfrm>
          <a:prstGeom prst="rect">
            <a:avLst/>
          </a:prstGeom>
          <a:solidFill>
            <a:srgbClr val="B99367"/>
          </a:solidFill>
          <a:ln w="12700">
            <a:solidFill>
              <a:srgbClr val="B99367"/>
            </a:solidFill>
            <a:prstDash val="solid"/>
          </a:ln>
        </p:spPr>
      </p:sp>
      <p:sp>
        <p:nvSpPr>
          <p:cNvPr id="38" name="Text 36"/>
          <p:cNvSpPr/>
          <p:nvPr/>
        </p:nvSpPr>
        <p:spPr>
          <a:xfrm>
            <a:off x="8641080" y="4087368"/>
            <a:ext cx="2377440" cy="292608"/>
          </a:xfrm>
          <a:prstGeom prst="rect">
            <a:avLst/>
          </a:prstGeom>
          <a:noFill/>
          <a:ln/>
        </p:spPr>
        <p:txBody>
          <a:bodyPr wrap="square" rtlCol="0" anchor="ctr"/>
          <a:lstStyle/>
          <a:p>
            <a:pPr marL="0" indent="0" algn="r" rtl="1">
              <a:buNone/>
            </a:pPr>
            <a:r>
              <a:rPr lang="en-US" sz="1400" b="1" dirty="0">
                <a:solidFill>
                  <a:srgbClr val="1F2D27"/>
                </a:solidFill>
              </a:rPr>
              <a:t>المتابعة الذكية</a:t>
            </a:r>
            <a:endParaRPr lang="en-US" sz="1400" dirty="0"/>
          </a:p>
        </p:txBody>
      </p:sp>
      <p:sp>
        <p:nvSpPr>
          <p:cNvPr id="39" name="Text 37"/>
          <p:cNvSpPr/>
          <p:nvPr/>
        </p:nvSpPr>
        <p:spPr>
          <a:xfrm>
            <a:off x="8641080" y="4507992"/>
            <a:ext cx="2377440" cy="502920"/>
          </a:xfrm>
          <a:prstGeom prst="rect">
            <a:avLst/>
          </a:prstGeom>
          <a:noFill/>
          <a:ln/>
        </p:spPr>
        <p:txBody>
          <a:bodyPr wrap="square" lIns="254" tIns="254" rIns="254" bIns="254" rtlCol="0" anchor="t"/>
          <a:lstStyle/>
          <a:p>
            <a:pPr marL="0" indent="0" algn="r" rtl="1">
              <a:buNone/>
            </a:pPr>
            <a:r>
              <a:rPr lang="en-US" sz="1020" dirty="0">
                <a:solidFill>
                  <a:srgbClr val="52645B"/>
                </a:solidFill>
              </a:rPr>
              <a:t>Incident Alerts + Low Stock</a:t>
            </a:r>
            <a:endParaRPr lang="en-US" sz="1020" dirty="0"/>
          </a:p>
          <a:p>
            <a:pPr marL="0" indent="0" algn="r" rtl="1">
              <a:buNone/>
            </a:pPr>
            <a:r>
              <a:rPr lang="en-US" sz="1020" dirty="0">
                <a:solidFill>
                  <a:srgbClr val="52645B"/>
                </a:solidFill>
              </a:rPr>
              <a:t>Care History → AI Summary</a:t>
            </a:r>
            <a:endParaRPr lang="en-US" sz="1020" dirty="0"/>
          </a:p>
        </p:txBody>
      </p:sp>
      <p:sp>
        <p:nvSpPr>
          <p:cNvPr id="40" name="Text 38"/>
          <p:cNvSpPr/>
          <p:nvPr/>
        </p:nvSpPr>
        <p:spPr>
          <a:xfrm>
            <a:off x="914400" y="5715000"/>
            <a:ext cx="10378440" cy="365760"/>
          </a:xfrm>
          <a:prstGeom prst="rect">
            <a:avLst/>
          </a:prstGeom>
          <a:noFill/>
          <a:ln/>
        </p:spPr>
        <p:txBody>
          <a:bodyPr wrap="square" rtlCol="0" anchor="ctr"/>
          <a:lstStyle/>
          <a:p>
            <a:pPr marL="0" indent="0" algn="ctr" rtl="1">
              <a:buNone/>
            </a:pPr>
            <a:r>
              <a:rPr lang="en-US" sz="1200" b="1" dirty="0">
                <a:solidFill>
                  <a:srgbClr val="40584D"/>
                </a:solidFill>
              </a:rPr>
              <a:t>الموقع في الـDemo يعرض هذه الرحلة من الواجهة، والـBackend يفرض القواعد خلفها.</a:t>
            </a:r>
            <a:endParaRPr lang="en-US" sz="1200" dirty="0"/>
          </a:p>
        </p:txBody>
      </p:sp>
      <p:sp>
        <p:nvSpPr>
          <p:cNvPr id="41"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كيف تتحول المشكلة إلى Business Logic؟</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PROBLEM → ACTION → RESULT</a:t>
            </a:r>
            <a:endParaRPr lang="en-US" sz="800" dirty="0"/>
          </a:p>
        </p:txBody>
      </p:sp>
      <p:sp>
        <p:nvSpPr>
          <p:cNvPr id="4" name="Text 2"/>
          <p:cNvSpPr/>
          <p:nvPr/>
        </p:nvSpPr>
        <p:spPr>
          <a:xfrm>
            <a:off x="777240" y="1353312"/>
            <a:ext cx="10698480" cy="347472"/>
          </a:xfrm>
          <a:prstGeom prst="rect">
            <a:avLst/>
          </a:prstGeom>
          <a:noFill/>
          <a:ln/>
        </p:spPr>
        <p:txBody>
          <a:bodyPr wrap="square" rtlCol="0" anchor="ctr"/>
          <a:lstStyle/>
          <a:p>
            <a:pPr marL="0" indent="0" algn="ctr" rtl="1">
              <a:buNone/>
            </a:pPr>
            <a:r>
              <a:rPr lang="en-US" sz="1250" dirty="0">
                <a:solidFill>
                  <a:srgbClr val="82998A"/>
                </a:solidFill>
              </a:rPr>
              <a:t>كل Flow يبدأ بموقف حقيقي في الرعاية، والـEndpoint ينفذ الإجراء، ثم تظهر النتيجة مباشرة في النظام.</a:t>
            </a:r>
            <a:endParaRPr lang="en-US" sz="1250" dirty="0"/>
          </a:p>
        </p:txBody>
      </p:sp>
      <p:sp>
        <p:nvSpPr>
          <p:cNvPr id="5" name="Shape 3"/>
          <p:cNvSpPr/>
          <p:nvPr/>
        </p:nvSpPr>
        <p:spPr>
          <a:xfrm>
            <a:off x="685800" y="1783080"/>
            <a:ext cx="10835640" cy="658368"/>
          </a:xfrm>
          <a:prstGeom prst="roundRect">
            <a:avLst>
              <a:gd name="adj" fmla="val 6944"/>
            </a:avLst>
          </a:prstGeom>
          <a:solidFill>
            <a:srgbClr val="FFFFFF"/>
          </a:solidFill>
          <a:ln w="12700">
            <a:solidFill>
              <a:srgbClr val="D9E1DC"/>
            </a:solidFill>
            <a:prstDash val="solid"/>
          </a:ln>
        </p:spPr>
      </p:sp>
      <p:sp>
        <p:nvSpPr>
          <p:cNvPr id="6" name="Shape 4"/>
          <p:cNvSpPr/>
          <p:nvPr/>
        </p:nvSpPr>
        <p:spPr>
          <a:xfrm>
            <a:off x="11411712" y="1874520"/>
            <a:ext cx="73152" cy="475488"/>
          </a:xfrm>
          <a:prstGeom prst="rect">
            <a:avLst/>
          </a:prstGeom>
          <a:solidFill>
            <a:srgbClr val="40584D"/>
          </a:solidFill>
          <a:ln w="12700">
            <a:solidFill>
              <a:srgbClr val="40584D"/>
            </a:solidFill>
            <a:prstDash val="solid"/>
          </a:ln>
        </p:spPr>
      </p:sp>
      <p:sp>
        <p:nvSpPr>
          <p:cNvPr id="7" name="Text 5"/>
          <p:cNvSpPr/>
          <p:nvPr/>
        </p:nvSpPr>
        <p:spPr>
          <a:xfrm>
            <a:off x="8321040" y="1947672"/>
            <a:ext cx="2743200" cy="210312"/>
          </a:xfrm>
          <a:prstGeom prst="rect">
            <a:avLst/>
          </a:prstGeom>
          <a:noFill/>
          <a:ln/>
        </p:spPr>
        <p:txBody>
          <a:bodyPr wrap="square" rtlCol="0" anchor="ctr"/>
          <a:lstStyle/>
          <a:p>
            <a:pPr marL="0" indent="0" algn="r" rtl="1">
              <a:buNone/>
            </a:pPr>
            <a:r>
              <a:rPr lang="en-US" sz="1050" b="1" dirty="0">
                <a:solidFill>
                  <a:srgbClr val="1F2D27"/>
                </a:solidFill>
              </a:rPr>
              <a:t>تغيّر المسؤول عن المريض</a:t>
            </a:r>
            <a:endParaRPr lang="en-US" sz="1050" dirty="0"/>
          </a:p>
        </p:txBody>
      </p:sp>
      <p:sp>
        <p:nvSpPr>
          <p:cNvPr id="8" name="Text 6"/>
          <p:cNvSpPr/>
          <p:nvPr/>
        </p:nvSpPr>
        <p:spPr>
          <a:xfrm>
            <a:off x="7882128" y="1938528"/>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9" name="Shape 7"/>
          <p:cNvSpPr/>
          <p:nvPr/>
        </p:nvSpPr>
        <p:spPr>
          <a:xfrm>
            <a:off x="4983480" y="1901952"/>
            <a:ext cx="2743200" cy="329184"/>
          </a:xfrm>
          <a:prstGeom prst="roundRect">
            <a:avLst>
              <a:gd name="adj" fmla="val 27778"/>
            </a:avLst>
          </a:prstGeom>
          <a:solidFill>
            <a:srgbClr val="E8EDE9"/>
          </a:solidFill>
          <a:ln w="12700">
            <a:solidFill>
              <a:srgbClr val="E8EDE9"/>
            </a:solidFill>
            <a:prstDash val="solid"/>
          </a:ln>
        </p:spPr>
      </p:sp>
      <p:sp>
        <p:nvSpPr>
          <p:cNvPr id="10" name="Text 8"/>
          <p:cNvSpPr/>
          <p:nvPr/>
        </p:nvSpPr>
        <p:spPr>
          <a:xfrm>
            <a:off x="5102352" y="1993392"/>
            <a:ext cx="2514600" cy="128016"/>
          </a:xfrm>
          <a:prstGeom prst="rect">
            <a:avLst/>
          </a:prstGeom>
          <a:noFill/>
          <a:ln/>
        </p:spPr>
        <p:txBody>
          <a:bodyPr wrap="square" rtlCol="0" anchor="ctr"/>
          <a:lstStyle/>
          <a:p>
            <a:pPr marL="0" indent="0" algn="ctr">
              <a:buNone/>
            </a:pPr>
            <a:r>
              <a:rPr lang="en-US" sz="750" b="1" dirty="0">
                <a:solidFill>
                  <a:srgbClr val="40584D"/>
                </a:solidFill>
              </a:rPr>
              <a:t>accept-handover</a:t>
            </a:r>
            <a:endParaRPr lang="en-US" sz="750" dirty="0"/>
          </a:p>
        </p:txBody>
      </p:sp>
      <p:sp>
        <p:nvSpPr>
          <p:cNvPr id="11" name="Text 9"/>
          <p:cNvSpPr/>
          <p:nvPr/>
        </p:nvSpPr>
        <p:spPr>
          <a:xfrm>
            <a:off x="4526280" y="1938528"/>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12" name="Text 10"/>
          <p:cNvSpPr/>
          <p:nvPr/>
        </p:nvSpPr>
        <p:spPr>
          <a:xfrm>
            <a:off x="960120" y="1938528"/>
            <a:ext cx="3337560" cy="274320"/>
          </a:xfrm>
          <a:prstGeom prst="rect">
            <a:avLst/>
          </a:prstGeom>
          <a:noFill/>
          <a:ln/>
        </p:spPr>
        <p:txBody>
          <a:bodyPr wrap="square" rtlCol="0" anchor="ctr"/>
          <a:lstStyle/>
          <a:p>
            <a:pPr marL="0" indent="0" algn="r" rtl="1">
              <a:buNone/>
            </a:pPr>
            <a:r>
              <a:rPr lang="en-US" sz="920" b="1" dirty="0">
                <a:solidFill>
                  <a:srgbClr val="52645B"/>
                </a:solidFill>
              </a:rPr>
              <a:t>Current Caregiver جديد + نقل كل المهام المعلقة</a:t>
            </a:r>
            <a:endParaRPr lang="en-US" sz="920" dirty="0"/>
          </a:p>
        </p:txBody>
      </p:sp>
      <p:sp>
        <p:nvSpPr>
          <p:cNvPr id="13" name="Shape 11"/>
          <p:cNvSpPr/>
          <p:nvPr/>
        </p:nvSpPr>
        <p:spPr>
          <a:xfrm>
            <a:off x="685800" y="2624328"/>
            <a:ext cx="10835640" cy="658368"/>
          </a:xfrm>
          <a:prstGeom prst="roundRect">
            <a:avLst>
              <a:gd name="adj" fmla="val 6944"/>
            </a:avLst>
          </a:prstGeom>
          <a:solidFill>
            <a:srgbClr val="FFFFFF"/>
          </a:solidFill>
          <a:ln w="12700">
            <a:solidFill>
              <a:srgbClr val="D9E1DC"/>
            </a:solidFill>
            <a:prstDash val="solid"/>
          </a:ln>
        </p:spPr>
      </p:sp>
      <p:sp>
        <p:nvSpPr>
          <p:cNvPr id="14" name="Shape 12"/>
          <p:cNvSpPr/>
          <p:nvPr/>
        </p:nvSpPr>
        <p:spPr>
          <a:xfrm>
            <a:off x="11411712" y="2715768"/>
            <a:ext cx="73152" cy="475488"/>
          </a:xfrm>
          <a:prstGeom prst="rect">
            <a:avLst/>
          </a:prstGeom>
          <a:solidFill>
            <a:srgbClr val="D3B29D"/>
          </a:solidFill>
          <a:ln w="12700">
            <a:solidFill>
              <a:srgbClr val="D3B29D"/>
            </a:solidFill>
            <a:prstDash val="solid"/>
          </a:ln>
        </p:spPr>
      </p:sp>
      <p:sp>
        <p:nvSpPr>
          <p:cNvPr id="15" name="Text 13"/>
          <p:cNvSpPr/>
          <p:nvPr/>
        </p:nvSpPr>
        <p:spPr>
          <a:xfrm>
            <a:off x="8321040" y="2788920"/>
            <a:ext cx="2743200" cy="210312"/>
          </a:xfrm>
          <a:prstGeom prst="rect">
            <a:avLst/>
          </a:prstGeom>
          <a:noFill/>
          <a:ln/>
        </p:spPr>
        <p:txBody>
          <a:bodyPr wrap="square" rtlCol="0" anchor="ctr"/>
          <a:lstStyle/>
          <a:p>
            <a:pPr marL="0" indent="0" algn="r" rtl="1">
              <a:buNone/>
            </a:pPr>
            <a:r>
              <a:rPr lang="en-US" sz="1050" b="1" dirty="0">
                <a:solidFill>
                  <a:srgbClr val="1F2D27"/>
                </a:solidFill>
              </a:rPr>
              <a:t>تسجيل جرعة دواء</a:t>
            </a:r>
            <a:endParaRPr lang="en-US" sz="1050" dirty="0"/>
          </a:p>
        </p:txBody>
      </p:sp>
      <p:sp>
        <p:nvSpPr>
          <p:cNvPr id="16" name="Text 14"/>
          <p:cNvSpPr/>
          <p:nvPr/>
        </p:nvSpPr>
        <p:spPr>
          <a:xfrm>
            <a:off x="7882128" y="2779776"/>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17" name="Shape 15"/>
          <p:cNvSpPr/>
          <p:nvPr/>
        </p:nvSpPr>
        <p:spPr>
          <a:xfrm>
            <a:off x="4983480" y="2743200"/>
            <a:ext cx="2743200" cy="329184"/>
          </a:xfrm>
          <a:prstGeom prst="roundRect">
            <a:avLst>
              <a:gd name="adj" fmla="val 27778"/>
            </a:avLst>
          </a:prstGeom>
          <a:solidFill>
            <a:srgbClr val="E8EDE9"/>
          </a:solidFill>
          <a:ln w="12700">
            <a:solidFill>
              <a:srgbClr val="E8EDE9"/>
            </a:solidFill>
            <a:prstDash val="solid"/>
          </a:ln>
        </p:spPr>
      </p:sp>
      <p:sp>
        <p:nvSpPr>
          <p:cNvPr id="18" name="Text 16"/>
          <p:cNvSpPr/>
          <p:nvPr/>
        </p:nvSpPr>
        <p:spPr>
          <a:xfrm>
            <a:off x="5102352" y="2834640"/>
            <a:ext cx="2514600" cy="128016"/>
          </a:xfrm>
          <a:prstGeom prst="rect">
            <a:avLst/>
          </a:prstGeom>
          <a:noFill/>
          <a:ln/>
        </p:spPr>
        <p:txBody>
          <a:bodyPr wrap="square" rtlCol="0" anchor="ctr"/>
          <a:lstStyle/>
          <a:p>
            <a:pPr marL="0" indent="0" algn="ctr">
              <a:buNone/>
            </a:pPr>
            <a:r>
              <a:rPr lang="en-US" sz="750" b="1" dirty="0">
                <a:solidFill>
                  <a:srgbClr val="40584D"/>
                </a:solidFill>
              </a:rPr>
              <a:t>add-medication-log</a:t>
            </a:r>
            <a:endParaRPr lang="en-US" sz="750" dirty="0"/>
          </a:p>
        </p:txBody>
      </p:sp>
      <p:sp>
        <p:nvSpPr>
          <p:cNvPr id="19" name="Text 17"/>
          <p:cNvSpPr/>
          <p:nvPr/>
        </p:nvSpPr>
        <p:spPr>
          <a:xfrm>
            <a:off x="4526280" y="2779776"/>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20" name="Text 18"/>
          <p:cNvSpPr/>
          <p:nvPr/>
        </p:nvSpPr>
        <p:spPr>
          <a:xfrm>
            <a:off x="960120" y="2779776"/>
            <a:ext cx="3337560" cy="274320"/>
          </a:xfrm>
          <a:prstGeom prst="rect">
            <a:avLst/>
          </a:prstGeom>
          <a:noFill/>
          <a:ln/>
        </p:spPr>
        <p:txBody>
          <a:bodyPr wrap="square" rtlCol="0" anchor="ctr"/>
          <a:lstStyle/>
          <a:p>
            <a:pPr marL="0" indent="0" algn="r" rtl="1">
              <a:buNone/>
            </a:pPr>
            <a:r>
              <a:rPr lang="en-US" sz="920" b="1" dirty="0">
                <a:solidFill>
                  <a:srgbClr val="52645B"/>
                </a:solidFill>
              </a:rPr>
              <a:t>Taken / Late → خصم المخزون → Low Stock WhatsApp</a:t>
            </a:r>
            <a:endParaRPr lang="en-US" sz="920" dirty="0"/>
          </a:p>
        </p:txBody>
      </p:sp>
      <p:sp>
        <p:nvSpPr>
          <p:cNvPr id="21" name="Shape 19"/>
          <p:cNvSpPr/>
          <p:nvPr/>
        </p:nvSpPr>
        <p:spPr>
          <a:xfrm>
            <a:off x="685800" y="3465576"/>
            <a:ext cx="10835640" cy="658368"/>
          </a:xfrm>
          <a:prstGeom prst="roundRect">
            <a:avLst>
              <a:gd name="adj" fmla="val 6944"/>
            </a:avLst>
          </a:prstGeom>
          <a:solidFill>
            <a:srgbClr val="FFFFFF"/>
          </a:solidFill>
          <a:ln w="12700">
            <a:solidFill>
              <a:srgbClr val="D9E1DC"/>
            </a:solidFill>
            <a:prstDash val="solid"/>
          </a:ln>
        </p:spPr>
      </p:sp>
      <p:sp>
        <p:nvSpPr>
          <p:cNvPr id="22" name="Shape 20"/>
          <p:cNvSpPr/>
          <p:nvPr/>
        </p:nvSpPr>
        <p:spPr>
          <a:xfrm>
            <a:off x="11411712" y="3557016"/>
            <a:ext cx="73152" cy="475488"/>
          </a:xfrm>
          <a:prstGeom prst="rect">
            <a:avLst/>
          </a:prstGeom>
          <a:solidFill>
            <a:srgbClr val="B35C5C"/>
          </a:solidFill>
          <a:ln w="12700">
            <a:solidFill>
              <a:srgbClr val="B35C5C"/>
            </a:solidFill>
            <a:prstDash val="solid"/>
          </a:ln>
        </p:spPr>
      </p:sp>
      <p:sp>
        <p:nvSpPr>
          <p:cNvPr id="23" name="Text 21"/>
          <p:cNvSpPr/>
          <p:nvPr/>
        </p:nvSpPr>
        <p:spPr>
          <a:xfrm>
            <a:off x="8321040" y="3630168"/>
            <a:ext cx="2743200" cy="210312"/>
          </a:xfrm>
          <a:prstGeom prst="rect">
            <a:avLst/>
          </a:prstGeom>
          <a:noFill/>
          <a:ln/>
        </p:spPr>
        <p:txBody>
          <a:bodyPr wrap="square" rtlCol="0" anchor="ctr"/>
          <a:lstStyle/>
          <a:p>
            <a:pPr marL="0" indent="0" algn="r" rtl="1">
              <a:buNone/>
            </a:pPr>
            <a:r>
              <a:rPr lang="en-US" sz="1050" b="1" dirty="0">
                <a:solidFill>
                  <a:srgbClr val="1F2D27"/>
                </a:solidFill>
              </a:rPr>
              <a:t>حدوث حالة طارئة</a:t>
            </a:r>
            <a:endParaRPr lang="en-US" sz="1050" dirty="0"/>
          </a:p>
        </p:txBody>
      </p:sp>
      <p:sp>
        <p:nvSpPr>
          <p:cNvPr id="24" name="Text 22"/>
          <p:cNvSpPr/>
          <p:nvPr/>
        </p:nvSpPr>
        <p:spPr>
          <a:xfrm>
            <a:off x="7882128" y="3621024"/>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25" name="Shape 23"/>
          <p:cNvSpPr/>
          <p:nvPr/>
        </p:nvSpPr>
        <p:spPr>
          <a:xfrm>
            <a:off x="4983480" y="3584448"/>
            <a:ext cx="2743200" cy="329184"/>
          </a:xfrm>
          <a:prstGeom prst="roundRect">
            <a:avLst>
              <a:gd name="adj" fmla="val 27778"/>
            </a:avLst>
          </a:prstGeom>
          <a:solidFill>
            <a:srgbClr val="E8EDE9"/>
          </a:solidFill>
          <a:ln w="12700">
            <a:solidFill>
              <a:srgbClr val="E8EDE9"/>
            </a:solidFill>
            <a:prstDash val="solid"/>
          </a:ln>
        </p:spPr>
      </p:sp>
      <p:sp>
        <p:nvSpPr>
          <p:cNvPr id="26" name="Text 24"/>
          <p:cNvSpPr/>
          <p:nvPr/>
        </p:nvSpPr>
        <p:spPr>
          <a:xfrm>
            <a:off x="5102352" y="3675888"/>
            <a:ext cx="2514600" cy="128016"/>
          </a:xfrm>
          <a:prstGeom prst="rect">
            <a:avLst/>
          </a:prstGeom>
          <a:noFill/>
          <a:ln/>
        </p:spPr>
        <p:txBody>
          <a:bodyPr wrap="square" rtlCol="0" anchor="ctr"/>
          <a:lstStyle/>
          <a:p>
            <a:pPr marL="0" indent="0" algn="ctr">
              <a:buNone/>
            </a:pPr>
            <a:r>
              <a:rPr lang="en-US" sz="750" b="1" dirty="0">
                <a:solidFill>
                  <a:srgbClr val="40584D"/>
                </a:solidFill>
              </a:rPr>
              <a:t>add / resolve incident</a:t>
            </a:r>
            <a:endParaRPr lang="en-US" sz="750" dirty="0"/>
          </a:p>
        </p:txBody>
      </p:sp>
      <p:sp>
        <p:nvSpPr>
          <p:cNvPr id="27" name="Text 25"/>
          <p:cNvSpPr/>
          <p:nvPr/>
        </p:nvSpPr>
        <p:spPr>
          <a:xfrm>
            <a:off x="4526280" y="3621024"/>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28" name="Text 26"/>
          <p:cNvSpPr/>
          <p:nvPr/>
        </p:nvSpPr>
        <p:spPr>
          <a:xfrm>
            <a:off x="960120" y="3621024"/>
            <a:ext cx="3337560" cy="274320"/>
          </a:xfrm>
          <a:prstGeom prst="rect">
            <a:avLst/>
          </a:prstGeom>
          <a:noFill/>
          <a:ln/>
        </p:spPr>
        <p:txBody>
          <a:bodyPr wrap="square" rtlCol="0" anchor="ctr"/>
          <a:lstStyle/>
          <a:p>
            <a:pPr marL="0" indent="0" algn="r" rtl="1">
              <a:buNone/>
            </a:pPr>
            <a:r>
              <a:rPr lang="en-US" sz="920" b="1" dirty="0">
                <a:solidFill>
                  <a:srgbClr val="52645B"/>
                </a:solidFill>
              </a:rPr>
              <a:t>تسجيل الحالة → تنبيه الفريق → متابعة حتى Resolved</a:t>
            </a:r>
            <a:endParaRPr lang="en-US" sz="920" dirty="0"/>
          </a:p>
        </p:txBody>
      </p:sp>
      <p:sp>
        <p:nvSpPr>
          <p:cNvPr id="29" name="Shape 27"/>
          <p:cNvSpPr/>
          <p:nvPr/>
        </p:nvSpPr>
        <p:spPr>
          <a:xfrm>
            <a:off x="685800" y="4306824"/>
            <a:ext cx="10835640" cy="658368"/>
          </a:xfrm>
          <a:prstGeom prst="roundRect">
            <a:avLst>
              <a:gd name="adj" fmla="val 6944"/>
            </a:avLst>
          </a:prstGeom>
          <a:solidFill>
            <a:srgbClr val="FFFFFF"/>
          </a:solidFill>
          <a:ln w="12700">
            <a:solidFill>
              <a:srgbClr val="D9E1DC"/>
            </a:solidFill>
            <a:prstDash val="solid"/>
          </a:ln>
        </p:spPr>
      </p:sp>
      <p:sp>
        <p:nvSpPr>
          <p:cNvPr id="30" name="Shape 28"/>
          <p:cNvSpPr/>
          <p:nvPr/>
        </p:nvSpPr>
        <p:spPr>
          <a:xfrm>
            <a:off x="11411712" y="4398264"/>
            <a:ext cx="73152" cy="475488"/>
          </a:xfrm>
          <a:prstGeom prst="rect">
            <a:avLst/>
          </a:prstGeom>
          <a:solidFill>
            <a:srgbClr val="82998A"/>
          </a:solidFill>
          <a:ln w="12700">
            <a:solidFill>
              <a:srgbClr val="82998A"/>
            </a:solidFill>
            <a:prstDash val="solid"/>
          </a:ln>
        </p:spPr>
      </p:sp>
      <p:sp>
        <p:nvSpPr>
          <p:cNvPr id="31" name="Text 29"/>
          <p:cNvSpPr/>
          <p:nvPr/>
        </p:nvSpPr>
        <p:spPr>
          <a:xfrm>
            <a:off x="8321040" y="4471416"/>
            <a:ext cx="2743200" cy="210312"/>
          </a:xfrm>
          <a:prstGeom prst="rect">
            <a:avLst/>
          </a:prstGeom>
          <a:noFill/>
          <a:ln/>
        </p:spPr>
        <p:txBody>
          <a:bodyPr wrap="square" rtlCol="0" anchor="ctr"/>
          <a:lstStyle/>
          <a:p>
            <a:pPr marL="0" indent="0" algn="r" rtl="1">
              <a:buNone/>
            </a:pPr>
            <a:r>
              <a:rPr lang="en-US" sz="1050" b="1" dirty="0">
                <a:solidFill>
                  <a:srgbClr val="1F2D27"/>
                </a:solidFill>
              </a:rPr>
              <a:t>عودة مريض غير نشط</a:t>
            </a:r>
            <a:endParaRPr lang="en-US" sz="1050" dirty="0"/>
          </a:p>
        </p:txBody>
      </p:sp>
      <p:sp>
        <p:nvSpPr>
          <p:cNvPr id="32" name="Text 30"/>
          <p:cNvSpPr/>
          <p:nvPr/>
        </p:nvSpPr>
        <p:spPr>
          <a:xfrm>
            <a:off x="7882128" y="4462272"/>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33" name="Shape 31"/>
          <p:cNvSpPr/>
          <p:nvPr/>
        </p:nvSpPr>
        <p:spPr>
          <a:xfrm>
            <a:off x="4983480" y="4425696"/>
            <a:ext cx="2743200" cy="329184"/>
          </a:xfrm>
          <a:prstGeom prst="roundRect">
            <a:avLst>
              <a:gd name="adj" fmla="val 27778"/>
            </a:avLst>
          </a:prstGeom>
          <a:solidFill>
            <a:srgbClr val="E8EDE9"/>
          </a:solidFill>
          <a:ln w="12700">
            <a:solidFill>
              <a:srgbClr val="E8EDE9"/>
            </a:solidFill>
            <a:prstDash val="solid"/>
          </a:ln>
        </p:spPr>
      </p:sp>
      <p:sp>
        <p:nvSpPr>
          <p:cNvPr id="34" name="Text 32"/>
          <p:cNvSpPr/>
          <p:nvPr/>
        </p:nvSpPr>
        <p:spPr>
          <a:xfrm>
            <a:off x="5102352" y="4517136"/>
            <a:ext cx="2514600" cy="128016"/>
          </a:xfrm>
          <a:prstGeom prst="rect">
            <a:avLst/>
          </a:prstGeom>
          <a:noFill/>
          <a:ln/>
        </p:spPr>
        <p:txBody>
          <a:bodyPr wrap="square" rtlCol="0" anchor="ctr"/>
          <a:lstStyle/>
          <a:p>
            <a:pPr marL="0" indent="0" algn="ctr">
              <a:buNone/>
            </a:pPr>
            <a:r>
              <a:rPr lang="en-US" sz="750" b="1" dirty="0">
                <a:solidFill>
                  <a:srgbClr val="40584D"/>
                </a:solidFill>
              </a:rPr>
              <a:t>link-existing-patient</a:t>
            </a:r>
            <a:endParaRPr lang="en-US" sz="750" dirty="0"/>
          </a:p>
        </p:txBody>
      </p:sp>
      <p:sp>
        <p:nvSpPr>
          <p:cNvPr id="35" name="Text 33"/>
          <p:cNvSpPr/>
          <p:nvPr/>
        </p:nvSpPr>
        <p:spPr>
          <a:xfrm>
            <a:off x="4526280" y="4462272"/>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36" name="Text 34"/>
          <p:cNvSpPr/>
          <p:nvPr/>
        </p:nvSpPr>
        <p:spPr>
          <a:xfrm>
            <a:off x="960120" y="4462272"/>
            <a:ext cx="3337560" cy="274320"/>
          </a:xfrm>
          <a:prstGeom prst="rect">
            <a:avLst/>
          </a:prstGeom>
          <a:noFill/>
          <a:ln/>
        </p:spPr>
        <p:txBody>
          <a:bodyPr wrap="square" rtlCol="0" anchor="ctr"/>
          <a:lstStyle/>
          <a:p>
            <a:pPr marL="0" indent="0" algn="r" rtl="1">
              <a:buNone/>
            </a:pPr>
            <a:r>
              <a:rPr lang="en-US" sz="920" b="1" dirty="0">
                <a:solidFill>
                  <a:srgbClr val="52645B"/>
                </a:solidFill>
              </a:rPr>
              <a:t>Patient Code → إعادة الربط مع الحفاظ على التاريخ</a:t>
            </a:r>
            <a:endParaRPr lang="en-US" sz="920" dirty="0"/>
          </a:p>
        </p:txBody>
      </p:sp>
      <p:sp>
        <p:nvSpPr>
          <p:cNvPr id="37" name="Shape 35"/>
          <p:cNvSpPr/>
          <p:nvPr/>
        </p:nvSpPr>
        <p:spPr>
          <a:xfrm>
            <a:off x="685800" y="5148072"/>
            <a:ext cx="10835640" cy="658368"/>
          </a:xfrm>
          <a:prstGeom prst="roundRect">
            <a:avLst>
              <a:gd name="adj" fmla="val 6944"/>
            </a:avLst>
          </a:prstGeom>
          <a:solidFill>
            <a:srgbClr val="FFFFFF"/>
          </a:solidFill>
          <a:ln w="12700">
            <a:solidFill>
              <a:srgbClr val="D9E1DC"/>
            </a:solidFill>
            <a:prstDash val="solid"/>
          </a:ln>
        </p:spPr>
      </p:sp>
      <p:sp>
        <p:nvSpPr>
          <p:cNvPr id="38" name="Shape 36"/>
          <p:cNvSpPr/>
          <p:nvPr/>
        </p:nvSpPr>
        <p:spPr>
          <a:xfrm>
            <a:off x="11411712" y="5239512"/>
            <a:ext cx="73152" cy="475488"/>
          </a:xfrm>
          <a:prstGeom prst="rect">
            <a:avLst/>
          </a:prstGeom>
          <a:solidFill>
            <a:srgbClr val="B99367"/>
          </a:solidFill>
          <a:ln w="12700">
            <a:solidFill>
              <a:srgbClr val="B99367"/>
            </a:solidFill>
            <a:prstDash val="solid"/>
          </a:ln>
        </p:spPr>
      </p:sp>
      <p:sp>
        <p:nvSpPr>
          <p:cNvPr id="39" name="Text 37"/>
          <p:cNvSpPr/>
          <p:nvPr/>
        </p:nvSpPr>
        <p:spPr>
          <a:xfrm>
            <a:off x="8321040" y="5312664"/>
            <a:ext cx="2743200" cy="210312"/>
          </a:xfrm>
          <a:prstGeom prst="rect">
            <a:avLst/>
          </a:prstGeom>
          <a:noFill/>
          <a:ln/>
        </p:spPr>
        <p:txBody>
          <a:bodyPr wrap="square" rtlCol="0" anchor="ctr"/>
          <a:lstStyle/>
          <a:p>
            <a:pPr marL="0" indent="0" algn="r" rtl="1">
              <a:buNone/>
            </a:pPr>
            <a:r>
              <a:rPr lang="en-US" sz="1050" b="1" dirty="0">
                <a:solidFill>
                  <a:srgbClr val="1F2D27"/>
                </a:solidFill>
              </a:rPr>
              <a:t>صعوبة مراجعة تاريخ الرعاية</a:t>
            </a:r>
            <a:endParaRPr lang="en-US" sz="1050" dirty="0"/>
          </a:p>
        </p:txBody>
      </p:sp>
      <p:sp>
        <p:nvSpPr>
          <p:cNvPr id="40" name="Text 38"/>
          <p:cNvSpPr/>
          <p:nvPr/>
        </p:nvSpPr>
        <p:spPr>
          <a:xfrm>
            <a:off x="7882128" y="5303520"/>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41" name="Shape 39"/>
          <p:cNvSpPr/>
          <p:nvPr/>
        </p:nvSpPr>
        <p:spPr>
          <a:xfrm>
            <a:off x="4983480" y="5266944"/>
            <a:ext cx="2743200" cy="329184"/>
          </a:xfrm>
          <a:prstGeom prst="roundRect">
            <a:avLst>
              <a:gd name="adj" fmla="val 27778"/>
            </a:avLst>
          </a:prstGeom>
          <a:solidFill>
            <a:srgbClr val="E8EDE9"/>
          </a:solidFill>
          <a:ln w="12700">
            <a:solidFill>
              <a:srgbClr val="E8EDE9"/>
            </a:solidFill>
            <a:prstDash val="solid"/>
          </a:ln>
        </p:spPr>
      </p:sp>
      <p:sp>
        <p:nvSpPr>
          <p:cNvPr id="42" name="Text 40"/>
          <p:cNvSpPr/>
          <p:nvPr/>
        </p:nvSpPr>
        <p:spPr>
          <a:xfrm>
            <a:off x="5102352" y="5358384"/>
            <a:ext cx="2514600" cy="128016"/>
          </a:xfrm>
          <a:prstGeom prst="rect">
            <a:avLst/>
          </a:prstGeom>
          <a:noFill/>
          <a:ln/>
        </p:spPr>
        <p:txBody>
          <a:bodyPr wrap="square" rtlCol="0" anchor="ctr"/>
          <a:lstStyle/>
          <a:p>
            <a:pPr marL="0" indent="0" algn="ctr">
              <a:buNone/>
            </a:pPr>
            <a:r>
              <a:rPr lang="en-US" sz="750" b="1" dirty="0">
                <a:solidFill>
                  <a:srgbClr val="40584D"/>
                </a:solidFill>
              </a:rPr>
              <a:t>generate-on-demand</a:t>
            </a:r>
            <a:endParaRPr lang="en-US" sz="750" dirty="0"/>
          </a:p>
        </p:txBody>
      </p:sp>
      <p:sp>
        <p:nvSpPr>
          <p:cNvPr id="43" name="Text 41"/>
          <p:cNvSpPr/>
          <p:nvPr/>
        </p:nvSpPr>
        <p:spPr>
          <a:xfrm>
            <a:off x="4526280" y="5303520"/>
            <a:ext cx="274320" cy="219456"/>
          </a:xfrm>
          <a:prstGeom prst="rect">
            <a:avLst/>
          </a:prstGeom>
          <a:noFill/>
          <a:ln/>
        </p:spPr>
        <p:txBody>
          <a:bodyPr wrap="square" rtlCol="0" anchor="ctr"/>
          <a:lstStyle/>
          <a:p>
            <a:pPr marL="0" indent="0" algn="ctr">
              <a:buNone/>
            </a:pPr>
            <a:r>
              <a:rPr lang="en-US" sz="1300" b="1" dirty="0">
                <a:solidFill>
                  <a:srgbClr val="D3B29D"/>
                </a:solidFill>
              </a:rPr>
              <a:t>←</a:t>
            </a:r>
            <a:endParaRPr lang="en-US" sz="1300" dirty="0"/>
          </a:p>
        </p:txBody>
      </p:sp>
      <p:sp>
        <p:nvSpPr>
          <p:cNvPr id="44" name="Text 42"/>
          <p:cNvSpPr/>
          <p:nvPr/>
        </p:nvSpPr>
        <p:spPr>
          <a:xfrm>
            <a:off x="960120" y="5303520"/>
            <a:ext cx="3337560" cy="274320"/>
          </a:xfrm>
          <a:prstGeom prst="rect">
            <a:avLst/>
          </a:prstGeom>
          <a:noFill/>
          <a:ln/>
        </p:spPr>
        <p:txBody>
          <a:bodyPr wrap="square" rtlCol="0" anchor="ctr"/>
          <a:lstStyle/>
          <a:p>
            <a:pPr marL="0" indent="0" algn="r" rtl="1">
              <a:buNone/>
            </a:pPr>
            <a:r>
              <a:rPr lang="en-US" sz="920" b="1" dirty="0">
                <a:solidFill>
                  <a:srgbClr val="52645B"/>
                </a:solidFill>
              </a:rPr>
              <a:t>جمع السجلات → AI Summary عربي → حفظ + Email</a:t>
            </a:r>
            <a:endParaRPr lang="en-US" sz="920" dirty="0"/>
          </a:p>
        </p:txBody>
      </p:sp>
      <p:sp>
        <p:nvSpPr>
          <p:cNvPr id="45" name="Text 43"/>
          <p:cNvSpPr/>
          <p:nvPr/>
        </p:nvSpPr>
        <p:spPr>
          <a:xfrm>
            <a:off x="1828800" y="6053328"/>
            <a:ext cx="8503920" cy="228600"/>
          </a:xfrm>
          <a:prstGeom prst="rect">
            <a:avLst/>
          </a:prstGeom>
          <a:noFill/>
          <a:ln/>
        </p:spPr>
        <p:txBody>
          <a:bodyPr wrap="square" rtlCol="0" anchor="ctr"/>
          <a:lstStyle/>
          <a:p>
            <a:pPr marL="0" indent="0" algn="ctr" rtl="1">
              <a:buNone/>
            </a:pPr>
            <a:r>
              <a:rPr lang="en-US" sz="1050" b="1" dirty="0">
                <a:solidFill>
                  <a:srgbClr val="40584D"/>
                </a:solidFill>
              </a:rPr>
              <a:t>الموقف الحقيقي  ←  Backend Action  ←  النتيجة التي يشوفها المستخدم في الواجهة</a:t>
            </a:r>
            <a:endParaRPr lang="en-US" sz="1050" dirty="0"/>
          </a:p>
        </p:txBody>
      </p:sp>
      <p:sp>
        <p:nvSpPr>
          <p:cNvPr id="46"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الأتمتة وسلامة العمليات</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AUTOMATION &amp; TRANSACTION INTEGRITY</a:t>
            </a:r>
            <a:endParaRPr lang="en-US" sz="800" dirty="0"/>
          </a:p>
        </p:txBody>
      </p:sp>
      <p:sp>
        <p:nvSpPr>
          <p:cNvPr id="4" name="Text 2"/>
          <p:cNvSpPr/>
          <p:nvPr/>
        </p:nvSpPr>
        <p:spPr>
          <a:xfrm>
            <a:off x="731520" y="1389888"/>
            <a:ext cx="10789920" cy="365760"/>
          </a:xfrm>
          <a:prstGeom prst="rect">
            <a:avLst/>
          </a:prstGeom>
          <a:noFill/>
          <a:ln/>
        </p:spPr>
        <p:txBody>
          <a:bodyPr wrap="square" rtlCol="0" anchor="ctr"/>
          <a:lstStyle/>
          <a:p>
            <a:pPr marL="0" indent="0" algn="r" rtl="1">
              <a:buNone/>
            </a:pPr>
            <a:r>
              <a:rPr lang="en-US" sz="1300" dirty="0">
                <a:solidFill>
                  <a:srgbClr val="82998A"/>
                </a:solidFill>
              </a:rPr>
              <a:t>في يسر بعض العمليات لا تنتظر المستخدم، وبعضها لازم ينجح كعملية واحدة كاملة.</a:t>
            </a:r>
            <a:endParaRPr lang="en-US" sz="1300" dirty="0"/>
          </a:p>
        </p:txBody>
      </p:sp>
      <p:sp>
        <p:nvSpPr>
          <p:cNvPr id="5" name="Shape 3"/>
          <p:cNvSpPr/>
          <p:nvPr/>
        </p:nvSpPr>
        <p:spPr>
          <a:xfrm>
            <a:off x="685800" y="1920240"/>
            <a:ext cx="3474720" cy="2148840"/>
          </a:xfrm>
          <a:prstGeom prst="roundRect">
            <a:avLst>
              <a:gd name="adj" fmla="val 340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6" name="Shape 4"/>
          <p:cNvSpPr/>
          <p:nvPr/>
        </p:nvSpPr>
        <p:spPr>
          <a:xfrm>
            <a:off x="4096512" y="2084832"/>
            <a:ext cx="64008" cy="1819656"/>
          </a:xfrm>
          <a:prstGeom prst="rect">
            <a:avLst/>
          </a:prstGeom>
          <a:solidFill>
            <a:srgbClr val="B99367"/>
          </a:solidFill>
          <a:ln w="12700">
            <a:solidFill>
              <a:srgbClr val="B99367"/>
            </a:solidFill>
            <a:prstDash val="solid"/>
          </a:ln>
        </p:spPr>
      </p:sp>
      <p:sp>
        <p:nvSpPr>
          <p:cNvPr id="7" name="Text 5"/>
          <p:cNvSpPr/>
          <p:nvPr/>
        </p:nvSpPr>
        <p:spPr>
          <a:xfrm>
            <a:off x="914400" y="2121408"/>
            <a:ext cx="2971800" cy="292608"/>
          </a:xfrm>
          <a:prstGeom prst="rect">
            <a:avLst/>
          </a:prstGeom>
          <a:noFill/>
          <a:ln/>
        </p:spPr>
        <p:txBody>
          <a:bodyPr wrap="square" rtlCol="0" anchor="ctr"/>
          <a:lstStyle/>
          <a:p>
            <a:pPr marL="0" indent="0" algn="r" rtl="1">
              <a:buNone/>
            </a:pPr>
            <a:r>
              <a:rPr lang="en-US" sz="1400" b="1" dirty="0">
                <a:solidFill>
                  <a:srgbClr val="1F2D27"/>
                </a:solidFill>
              </a:rPr>
              <a:t>@Scheduled — تشغيل تلقائي</a:t>
            </a:r>
            <a:endParaRPr lang="en-US" sz="1400" dirty="0"/>
          </a:p>
        </p:txBody>
      </p:sp>
      <p:sp>
        <p:nvSpPr>
          <p:cNvPr id="8" name="Text 6"/>
          <p:cNvSpPr/>
          <p:nvPr/>
        </p:nvSpPr>
        <p:spPr>
          <a:xfrm>
            <a:off x="914400" y="2542032"/>
            <a:ext cx="2971800" cy="1371600"/>
          </a:xfrm>
          <a:prstGeom prst="rect">
            <a:avLst/>
          </a:prstGeom>
          <a:noFill/>
          <a:ln/>
        </p:spPr>
        <p:txBody>
          <a:bodyPr wrap="square" lIns="254" tIns="254" rIns="254" bIns="254" rtlCol="0" anchor="t"/>
          <a:lstStyle/>
          <a:p>
            <a:pPr marL="0" indent="0" algn="r" rtl="1">
              <a:buNone/>
            </a:pPr>
            <a:r>
              <a:rPr lang="en-US" sz="1020" dirty="0">
                <a:solidFill>
                  <a:srgbClr val="52645B"/>
                </a:solidFill>
              </a:rPr>
              <a:t>SummaryScheduler يفحص كل 60 ثانية الملخصات المستحقة.</a:t>
            </a:r>
            <a:endParaRPr lang="en-US" sz="1020" dirty="0"/>
          </a:p>
          <a:p>
            <a:pPr marL="0" indent="0" algn="r" rtl="1">
              <a:buNone/>
            </a:pPr>
            <a:endParaRPr lang="en-US" sz="1020" dirty="0"/>
          </a:p>
          <a:p>
            <a:pPr marL="0" indent="0" algn="r" rtl="1">
              <a:buNone/>
            </a:pPr>
            <a:r>
              <a:rPr lang="en-US" sz="1020" dirty="0">
                <a:solidFill>
                  <a:srgbClr val="52645B"/>
                </a:solidFill>
              </a:rPr>
              <a:t>HandoverService يفحص كل 15 دقيقة الطلبات المتأخرة ويرسل التنبيهات.</a:t>
            </a:r>
            <a:endParaRPr lang="en-US" sz="1020" dirty="0"/>
          </a:p>
        </p:txBody>
      </p:sp>
      <p:sp>
        <p:nvSpPr>
          <p:cNvPr id="9" name="Shape 7"/>
          <p:cNvSpPr/>
          <p:nvPr/>
        </p:nvSpPr>
        <p:spPr>
          <a:xfrm>
            <a:off x="4370832" y="1920240"/>
            <a:ext cx="3474720" cy="2148840"/>
          </a:xfrm>
          <a:prstGeom prst="roundRect">
            <a:avLst>
              <a:gd name="adj" fmla="val 340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0" name="Shape 8"/>
          <p:cNvSpPr/>
          <p:nvPr/>
        </p:nvSpPr>
        <p:spPr>
          <a:xfrm>
            <a:off x="7781544" y="2084832"/>
            <a:ext cx="64008" cy="1819656"/>
          </a:xfrm>
          <a:prstGeom prst="rect">
            <a:avLst/>
          </a:prstGeom>
          <a:solidFill>
            <a:srgbClr val="40584D"/>
          </a:solidFill>
          <a:ln w="12700">
            <a:solidFill>
              <a:srgbClr val="40584D"/>
            </a:solidFill>
            <a:prstDash val="solid"/>
          </a:ln>
        </p:spPr>
      </p:sp>
      <p:sp>
        <p:nvSpPr>
          <p:cNvPr id="11" name="Text 9"/>
          <p:cNvSpPr/>
          <p:nvPr/>
        </p:nvSpPr>
        <p:spPr>
          <a:xfrm>
            <a:off x="4599432" y="2121408"/>
            <a:ext cx="2971800" cy="292608"/>
          </a:xfrm>
          <a:prstGeom prst="rect">
            <a:avLst/>
          </a:prstGeom>
          <a:noFill/>
          <a:ln/>
        </p:spPr>
        <p:txBody>
          <a:bodyPr wrap="square" rtlCol="0" anchor="ctr"/>
          <a:lstStyle/>
          <a:p>
            <a:pPr marL="0" indent="0" algn="r" rtl="1">
              <a:buNone/>
            </a:pPr>
            <a:r>
              <a:rPr lang="en-US" sz="1400" b="1" dirty="0">
                <a:solidFill>
                  <a:srgbClr val="1F2D27"/>
                </a:solidFill>
              </a:rPr>
              <a:t>@Transactional — عملية مترابطة</a:t>
            </a:r>
            <a:endParaRPr lang="en-US" sz="1400" dirty="0"/>
          </a:p>
        </p:txBody>
      </p:sp>
      <p:sp>
        <p:nvSpPr>
          <p:cNvPr id="12" name="Text 10"/>
          <p:cNvSpPr/>
          <p:nvPr/>
        </p:nvSpPr>
        <p:spPr>
          <a:xfrm>
            <a:off x="4599432" y="2542032"/>
            <a:ext cx="2971800" cy="1371600"/>
          </a:xfrm>
          <a:prstGeom prst="rect">
            <a:avLst/>
          </a:prstGeom>
          <a:noFill/>
          <a:ln/>
        </p:spPr>
        <p:txBody>
          <a:bodyPr wrap="square" lIns="254" tIns="254" rIns="254" bIns="254" rtlCol="0" anchor="t"/>
          <a:lstStyle/>
          <a:p>
            <a:pPr marL="0" indent="0" algn="r" rtl="1">
              <a:buNone/>
            </a:pPr>
            <a:r>
              <a:rPr lang="en-US" sz="1020" dirty="0">
                <a:solidFill>
                  <a:srgbClr val="52645B"/>
                </a:solidFill>
              </a:rPr>
              <a:t>مستخدم في عمليات حساسة مثل Handover، Patient وCaregiver.</a:t>
            </a:r>
            <a:endParaRPr lang="en-US" sz="1020" dirty="0"/>
          </a:p>
          <a:p>
            <a:pPr marL="0" indent="0" algn="r" rtl="1">
              <a:buNone/>
            </a:pPr>
            <a:endParaRPr lang="en-US" sz="1020" dirty="0"/>
          </a:p>
          <a:p>
            <a:pPr marL="0" indent="0" algn="r" rtl="1">
              <a:buNone/>
            </a:pPr>
            <a:r>
              <a:rPr lang="en-US" sz="1020" dirty="0">
                <a:solidFill>
                  <a:srgbClr val="52645B"/>
                </a:solidFill>
              </a:rPr>
              <a:t>إذا كانت العملية تشمل أكثر من تحديث مرتبط، نتعامل معها كوحدة واحدة للحفاظ على اتساق البيانات.</a:t>
            </a:r>
            <a:endParaRPr lang="en-US" sz="1020" dirty="0"/>
          </a:p>
        </p:txBody>
      </p:sp>
      <p:sp>
        <p:nvSpPr>
          <p:cNvPr id="13" name="Shape 11"/>
          <p:cNvSpPr/>
          <p:nvPr/>
        </p:nvSpPr>
        <p:spPr>
          <a:xfrm>
            <a:off x="8055864" y="1920240"/>
            <a:ext cx="3474720" cy="2148840"/>
          </a:xfrm>
          <a:prstGeom prst="roundRect">
            <a:avLst>
              <a:gd name="adj" fmla="val 3404"/>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4" name="Shape 12"/>
          <p:cNvSpPr/>
          <p:nvPr/>
        </p:nvSpPr>
        <p:spPr>
          <a:xfrm>
            <a:off x="11466576" y="2084832"/>
            <a:ext cx="64008" cy="1819656"/>
          </a:xfrm>
          <a:prstGeom prst="rect">
            <a:avLst/>
          </a:prstGeom>
          <a:solidFill>
            <a:srgbClr val="D3B29D"/>
          </a:solidFill>
          <a:ln w="12700">
            <a:solidFill>
              <a:srgbClr val="D3B29D"/>
            </a:solidFill>
            <a:prstDash val="solid"/>
          </a:ln>
        </p:spPr>
      </p:sp>
      <p:sp>
        <p:nvSpPr>
          <p:cNvPr id="15" name="Text 13"/>
          <p:cNvSpPr/>
          <p:nvPr/>
        </p:nvSpPr>
        <p:spPr>
          <a:xfrm>
            <a:off x="8284464" y="2121408"/>
            <a:ext cx="2971800" cy="292608"/>
          </a:xfrm>
          <a:prstGeom prst="rect">
            <a:avLst/>
          </a:prstGeom>
          <a:noFill/>
          <a:ln/>
        </p:spPr>
        <p:txBody>
          <a:bodyPr wrap="square" rtlCol="0" anchor="ctr"/>
          <a:lstStyle/>
          <a:p>
            <a:pPr marL="0" indent="0" algn="r" rtl="1">
              <a:buNone/>
            </a:pPr>
            <a:r>
              <a:rPr lang="en-US" sz="1400" b="1" dirty="0">
                <a:solidFill>
                  <a:srgbClr val="1F2D27"/>
                </a:solidFill>
              </a:rPr>
              <a:t>Event-Driven Notifications</a:t>
            </a:r>
            <a:endParaRPr lang="en-US" sz="1400" dirty="0"/>
          </a:p>
        </p:txBody>
      </p:sp>
      <p:sp>
        <p:nvSpPr>
          <p:cNvPr id="16" name="Text 14"/>
          <p:cNvSpPr/>
          <p:nvPr/>
        </p:nvSpPr>
        <p:spPr>
          <a:xfrm>
            <a:off x="8284464" y="2542032"/>
            <a:ext cx="2971800" cy="1371600"/>
          </a:xfrm>
          <a:prstGeom prst="rect">
            <a:avLst/>
          </a:prstGeom>
          <a:noFill/>
          <a:ln/>
        </p:spPr>
        <p:txBody>
          <a:bodyPr wrap="square" lIns="254" tIns="254" rIns="254" bIns="254" rtlCol="0" anchor="t"/>
          <a:lstStyle/>
          <a:p>
            <a:pPr marL="0" indent="0" algn="r" rtl="1">
              <a:buNone/>
            </a:pPr>
            <a:r>
              <a:rPr lang="en-US" sz="1020" dirty="0">
                <a:solidFill>
                  <a:srgbClr val="52645B"/>
                </a:solidFill>
              </a:rPr>
              <a:t>الأحداث نفسها تشغل التواصل:</a:t>
            </a:r>
            <a:endParaRPr lang="en-US" sz="1020" dirty="0"/>
          </a:p>
          <a:p>
            <a:pPr marL="0" indent="0" algn="r" rtl="1">
              <a:buNone/>
            </a:pPr>
            <a:r>
              <a:rPr lang="en-US" sz="1020" dirty="0">
                <a:solidFill>
                  <a:srgbClr val="52645B"/>
                </a:solidFill>
              </a:rPr>
              <a:t>Incident → WhatsApp</a:t>
            </a:r>
            <a:endParaRPr lang="en-US" sz="1020" dirty="0"/>
          </a:p>
          <a:p>
            <a:pPr marL="0" indent="0" algn="r" rtl="1">
              <a:buNone/>
            </a:pPr>
            <a:r>
              <a:rPr lang="en-US" sz="1020" dirty="0">
                <a:solidFill>
                  <a:srgbClr val="52645B"/>
                </a:solidFill>
              </a:rPr>
              <a:t>Low Stock → WhatsApp</a:t>
            </a:r>
            <a:endParaRPr lang="en-US" sz="1020" dirty="0"/>
          </a:p>
          <a:p>
            <a:pPr marL="0" indent="0" algn="r" rtl="1">
              <a:buNone/>
            </a:pPr>
            <a:r>
              <a:rPr lang="en-US" sz="1020" dirty="0">
                <a:solidFill>
                  <a:srgbClr val="52645B"/>
                </a:solidFill>
              </a:rPr>
              <a:t>Patient Created / Summary → Email</a:t>
            </a:r>
            <a:endParaRPr lang="en-US" sz="1020" dirty="0"/>
          </a:p>
        </p:txBody>
      </p:sp>
      <p:sp>
        <p:nvSpPr>
          <p:cNvPr id="17" name="Shape 15"/>
          <p:cNvSpPr/>
          <p:nvPr/>
        </p:nvSpPr>
        <p:spPr>
          <a:xfrm>
            <a:off x="1920240" y="4754880"/>
            <a:ext cx="8321040" cy="822960"/>
          </a:xfrm>
          <a:prstGeom prst="roundRect">
            <a:avLst>
              <a:gd name="adj" fmla="val 8889"/>
            </a:avLst>
          </a:prstGeom>
          <a:solidFill>
            <a:srgbClr val="E8EDE9"/>
          </a:solidFill>
          <a:ln w="12700">
            <a:solidFill>
              <a:srgbClr val="D4DED7"/>
            </a:solidFill>
            <a:prstDash val="solid"/>
          </a:ln>
        </p:spPr>
      </p:sp>
      <p:sp>
        <p:nvSpPr>
          <p:cNvPr id="18" name="Text 16"/>
          <p:cNvSpPr/>
          <p:nvPr/>
        </p:nvSpPr>
        <p:spPr>
          <a:xfrm>
            <a:off x="2148840" y="5020056"/>
            <a:ext cx="7863840" cy="228600"/>
          </a:xfrm>
          <a:prstGeom prst="rect">
            <a:avLst/>
          </a:prstGeom>
          <a:noFill/>
          <a:ln/>
        </p:spPr>
        <p:txBody>
          <a:bodyPr wrap="square" rtlCol="0" anchor="ctr"/>
          <a:lstStyle/>
          <a:p>
            <a:pPr marL="0" indent="0" algn="ctr" rtl="1">
              <a:buNone/>
            </a:pPr>
            <a:r>
              <a:rPr lang="en-US" sz="1300" b="1" dirty="0">
                <a:solidFill>
                  <a:srgbClr val="40584D"/>
                </a:solidFill>
              </a:rPr>
              <a:t>Automation = النظام يتابع الرعاية حتى بدون ضغط زر جديد كل مرة</a:t>
            </a:r>
            <a:endParaRPr lang="en-US" sz="1300" dirty="0"/>
          </a:p>
        </p:txBody>
      </p:sp>
      <p:sp>
        <p:nvSpPr>
          <p:cNvPr id="25"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من البيانات اليومية إلى Smart Care Summary</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AI + COMMUNICATION</a:t>
            </a:r>
            <a:endParaRPr lang="en-US" sz="800" dirty="0"/>
          </a:p>
        </p:txBody>
      </p:sp>
      <p:sp>
        <p:nvSpPr>
          <p:cNvPr id="4" name="Shape 2"/>
          <p:cNvSpPr/>
          <p:nvPr/>
        </p:nvSpPr>
        <p:spPr>
          <a:xfrm>
            <a:off x="2313432" y="2514600"/>
            <a:ext cx="347472" cy="310896"/>
          </a:xfrm>
          <a:prstGeom prst="chevron">
            <a:avLst/>
          </a:prstGeom>
          <a:solidFill>
            <a:srgbClr val="D3B29D"/>
          </a:solidFill>
          <a:ln w="12700">
            <a:solidFill>
              <a:srgbClr val="D3B29D"/>
            </a:solidFill>
            <a:prstDash val="solid"/>
          </a:ln>
        </p:spPr>
      </p:sp>
      <p:sp>
        <p:nvSpPr>
          <p:cNvPr id="5" name="Shape 3"/>
          <p:cNvSpPr/>
          <p:nvPr/>
        </p:nvSpPr>
        <p:spPr>
          <a:xfrm>
            <a:off x="411480" y="2011680"/>
            <a:ext cx="1874520" cy="1508760"/>
          </a:xfrm>
          <a:prstGeom prst="roundRect">
            <a:avLst>
              <a:gd name="adj" fmla="val 4848"/>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6" name="Shape 4"/>
          <p:cNvSpPr/>
          <p:nvPr/>
        </p:nvSpPr>
        <p:spPr>
          <a:xfrm>
            <a:off x="2221992" y="2176272"/>
            <a:ext cx="64008" cy="1179576"/>
          </a:xfrm>
          <a:prstGeom prst="rect">
            <a:avLst/>
          </a:prstGeom>
          <a:solidFill>
            <a:srgbClr val="82998A"/>
          </a:solidFill>
          <a:ln w="12700">
            <a:solidFill>
              <a:srgbClr val="82998A"/>
            </a:solidFill>
            <a:prstDash val="solid"/>
          </a:ln>
        </p:spPr>
      </p:sp>
      <p:sp>
        <p:nvSpPr>
          <p:cNvPr id="7" name="Text 5"/>
          <p:cNvSpPr/>
          <p:nvPr/>
        </p:nvSpPr>
        <p:spPr>
          <a:xfrm>
            <a:off x="640080" y="2212848"/>
            <a:ext cx="1371600" cy="292608"/>
          </a:xfrm>
          <a:prstGeom prst="rect">
            <a:avLst/>
          </a:prstGeom>
          <a:noFill/>
          <a:ln/>
        </p:spPr>
        <p:txBody>
          <a:bodyPr wrap="square" rtlCol="0" anchor="ctr"/>
          <a:lstStyle/>
          <a:p>
            <a:pPr marL="0" indent="0" algn="r" rtl="1">
              <a:buNone/>
            </a:pPr>
            <a:r>
              <a:rPr lang="en-US" sz="1400" b="1" dirty="0">
                <a:solidFill>
                  <a:srgbClr val="1F2D27"/>
                </a:solidFill>
              </a:rPr>
              <a:t>بيانات المريض</a:t>
            </a:r>
            <a:endParaRPr lang="en-US" sz="1400" dirty="0"/>
          </a:p>
        </p:txBody>
      </p:sp>
      <p:sp>
        <p:nvSpPr>
          <p:cNvPr id="8" name="Text 6"/>
          <p:cNvSpPr/>
          <p:nvPr/>
        </p:nvSpPr>
        <p:spPr>
          <a:xfrm>
            <a:off x="640080" y="2633472"/>
            <a:ext cx="1371600" cy="731520"/>
          </a:xfrm>
          <a:prstGeom prst="rect">
            <a:avLst/>
          </a:prstGeom>
          <a:noFill/>
          <a:ln/>
        </p:spPr>
        <p:txBody>
          <a:bodyPr wrap="square" lIns="254" tIns="254" rIns="254" bIns="254" rtlCol="0" anchor="t"/>
          <a:lstStyle/>
          <a:p>
            <a:pPr marL="0" indent="0" algn="r" rtl="1">
              <a:buNone/>
            </a:pPr>
            <a:r>
              <a:rPr lang="en-US" sz="1020" dirty="0">
                <a:solidFill>
                  <a:srgbClr val="52645B"/>
                </a:solidFill>
              </a:rPr>
              <a:t>Medications</a:t>
            </a:r>
            <a:endParaRPr lang="en-US" sz="1020" dirty="0"/>
          </a:p>
          <a:p>
            <a:pPr marL="0" indent="0" algn="r" rtl="1">
              <a:buNone/>
            </a:pPr>
            <a:r>
              <a:rPr lang="en-US" sz="1020" dirty="0">
                <a:solidFill>
                  <a:srgbClr val="52645B"/>
                </a:solidFill>
              </a:rPr>
              <a:t>Logs</a:t>
            </a:r>
            <a:endParaRPr lang="en-US" sz="1020" dirty="0"/>
          </a:p>
          <a:p>
            <a:pPr marL="0" indent="0" algn="r" rtl="1">
              <a:buNone/>
            </a:pPr>
            <a:r>
              <a:rPr lang="en-US" sz="1020" dirty="0">
                <a:solidFill>
                  <a:srgbClr val="52645B"/>
                </a:solidFill>
              </a:rPr>
              <a:t>Readings</a:t>
            </a:r>
            <a:endParaRPr lang="en-US" sz="1020" dirty="0"/>
          </a:p>
          <a:p>
            <a:pPr marL="0" indent="0" algn="r" rtl="1">
              <a:buNone/>
            </a:pPr>
            <a:r>
              <a:rPr lang="en-US" sz="1020" dirty="0">
                <a:solidFill>
                  <a:srgbClr val="52645B"/>
                </a:solidFill>
              </a:rPr>
              <a:t>Tasks</a:t>
            </a:r>
            <a:endParaRPr lang="en-US" sz="1020" dirty="0"/>
          </a:p>
          <a:p>
            <a:pPr marL="0" indent="0" algn="r" rtl="1">
              <a:buNone/>
            </a:pPr>
            <a:r>
              <a:rPr lang="en-US" sz="1020" dirty="0">
                <a:solidFill>
                  <a:srgbClr val="52645B"/>
                </a:solidFill>
              </a:rPr>
              <a:t>Incidents</a:t>
            </a:r>
            <a:endParaRPr lang="en-US" sz="1020" dirty="0"/>
          </a:p>
        </p:txBody>
      </p:sp>
      <p:sp>
        <p:nvSpPr>
          <p:cNvPr id="9" name="Shape 7"/>
          <p:cNvSpPr/>
          <p:nvPr/>
        </p:nvSpPr>
        <p:spPr>
          <a:xfrm>
            <a:off x="4645152" y="2514600"/>
            <a:ext cx="347472" cy="310896"/>
          </a:xfrm>
          <a:prstGeom prst="chevron">
            <a:avLst/>
          </a:prstGeom>
          <a:solidFill>
            <a:srgbClr val="D3B29D"/>
          </a:solidFill>
          <a:ln w="12700">
            <a:solidFill>
              <a:srgbClr val="D3B29D"/>
            </a:solidFill>
            <a:prstDash val="solid"/>
          </a:ln>
        </p:spPr>
      </p:sp>
      <p:sp>
        <p:nvSpPr>
          <p:cNvPr id="10" name="Shape 8"/>
          <p:cNvSpPr/>
          <p:nvPr/>
        </p:nvSpPr>
        <p:spPr>
          <a:xfrm>
            <a:off x="2743200" y="2011680"/>
            <a:ext cx="1874520" cy="1508760"/>
          </a:xfrm>
          <a:prstGeom prst="roundRect">
            <a:avLst>
              <a:gd name="adj" fmla="val 4848"/>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1" name="Shape 9"/>
          <p:cNvSpPr/>
          <p:nvPr/>
        </p:nvSpPr>
        <p:spPr>
          <a:xfrm>
            <a:off x="4553712" y="2176272"/>
            <a:ext cx="64008" cy="1179576"/>
          </a:xfrm>
          <a:prstGeom prst="rect">
            <a:avLst/>
          </a:prstGeom>
          <a:solidFill>
            <a:srgbClr val="82998A"/>
          </a:solidFill>
          <a:ln w="12700">
            <a:solidFill>
              <a:srgbClr val="82998A"/>
            </a:solidFill>
            <a:prstDash val="solid"/>
          </a:ln>
        </p:spPr>
      </p:sp>
      <p:sp>
        <p:nvSpPr>
          <p:cNvPr id="12" name="Text 10"/>
          <p:cNvSpPr/>
          <p:nvPr/>
        </p:nvSpPr>
        <p:spPr>
          <a:xfrm>
            <a:off x="2971800" y="2212848"/>
            <a:ext cx="1371600" cy="292608"/>
          </a:xfrm>
          <a:prstGeom prst="rect">
            <a:avLst/>
          </a:prstGeom>
          <a:noFill/>
          <a:ln/>
        </p:spPr>
        <p:txBody>
          <a:bodyPr wrap="square" rtlCol="0" anchor="ctr"/>
          <a:lstStyle/>
          <a:p>
            <a:pPr marL="0" indent="0" algn="r" rtl="1">
              <a:buNone/>
            </a:pPr>
            <a:r>
              <a:rPr lang="en-US" sz="1400" b="1" dirty="0">
                <a:solidFill>
                  <a:srgbClr val="1F2D27"/>
                </a:solidFill>
              </a:rPr>
              <a:t>Spring AI</a:t>
            </a:r>
            <a:endParaRPr lang="en-US" sz="1400" dirty="0"/>
          </a:p>
        </p:txBody>
      </p:sp>
      <p:sp>
        <p:nvSpPr>
          <p:cNvPr id="13" name="Text 11"/>
          <p:cNvSpPr/>
          <p:nvPr/>
        </p:nvSpPr>
        <p:spPr>
          <a:xfrm>
            <a:off x="2971800" y="2633472"/>
            <a:ext cx="1371600" cy="731520"/>
          </a:xfrm>
          <a:prstGeom prst="rect">
            <a:avLst/>
          </a:prstGeom>
          <a:noFill/>
          <a:ln/>
        </p:spPr>
        <p:txBody>
          <a:bodyPr wrap="square" lIns="254" tIns="254" rIns="254" bIns="254" rtlCol="0" anchor="t"/>
          <a:lstStyle/>
          <a:p>
            <a:pPr marL="0" indent="0" algn="r" rtl="1">
              <a:buNone/>
            </a:pPr>
            <a:r>
              <a:rPr lang="en-US" sz="1020" dirty="0">
                <a:solidFill>
                  <a:srgbClr val="52645B"/>
                </a:solidFill>
              </a:rPr>
              <a:t>تجميع وتنظيم</a:t>
            </a:r>
            <a:endParaRPr lang="en-US" sz="1020" dirty="0"/>
          </a:p>
          <a:p>
            <a:pPr marL="0" indent="0" algn="r" rtl="1">
              <a:buNone/>
            </a:pPr>
            <a:r>
              <a:rPr lang="en-US" sz="1020" dirty="0">
                <a:solidFill>
                  <a:srgbClr val="52645B"/>
                </a:solidFill>
              </a:rPr>
              <a:t>السياق الفعلي</a:t>
            </a:r>
            <a:endParaRPr lang="en-US" sz="1020" dirty="0"/>
          </a:p>
        </p:txBody>
      </p:sp>
      <p:sp>
        <p:nvSpPr>
          <p:cNvPr id="14" name="Shape 12"/>
          <p:cNvSpPr/>
          <p:nvPr/>
        </p:nvSpPr>
        <p:spPr>
          <a:xfrm>
            <a:off x="6976872" y="2514600"/>
            <a:ext cx="347472" cy="310896"/>
          </a:xfrm>
          <a:prstGeom prst="chevron">
            <a:avLst/>
          </a:prstGeom>
          <a:solidFill>
            <a:srgbClr val="D3B29D"/>
          </a:solidFill>
          <a:ln w="12700">
            <a:solidFill>
              <a:srgbClr val="D3B29D"/>
            </a:solidFill>
            <a:prstDash val="solid"/>
          </a:ln>
        </p:spPr>
      </p:sp>
      <p:sp>
        <p:nvSpPr>
          <p:cNvPr id="15" name="Shape 13"/>
          <p:cNvSpPr/>
          <p:nvPr/>
        </p:nvSpPr>
        <p:spPr>
          <a:xfrm>
            <a:off x="5074920" y="2011680"/>
            <a:ext cx="1874520" cy="1508760"/>
          </a:xfrm>
          <a:prstGeom prst="roundRect">
            <a:avLst>
              <a:gd name="adj" fmla="val 4848"/>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16" name="Shape 14"/>
          <p:cNvSpPr/>
          <p:nvPr/>
        </p:nvSpPr>
        <p:spPr>
          <a:xfrm>
            <a:off x="6885432" y="2176272"/>
            <a:ext cx="64008" cy="1179576"/>
          </a:xfrm>
          <a:prstGeom prst="rect">
            <a:avLst/>
          </a:prstGeom>
          <a:solidFill>
            <a:srgbClr val="B99367"/>
          </a:solidFill>
          <a:ln w="12700">
            <a:solidFill>
              <a:srgbClr val="B99367"/>
            </a:solidFill>
            <a:prstDash val="solid"/>
          </a:ln>
        </p:spPr>
      </p:sp>
      <p:sp>
        <p:nvSpPr>
          <p:cNvPr id="17" name="Text 15"/>
          <p:cNvSpPr/>
          <p:nvPr/>
        </p:nvSpPr>
        <p:spPr>
          <a:xfrm>
            <a:off x="5303520" y="2212848"/>
            <a:ext cx="1371600" cy="292608"/>
          </a:xfrm>
          <a:prstGeom prst="rect">
            <a:avLst/>
          </a:prstGeom>
          <a:noFill/>
          <a:ln/>
        </p:spPr>
        <p:txBody>
          <a:bodyPr wrap="square" rtlCol="0" anchor="ctr"/>
          <a:lstStyle/>
          <a:p>
            <a:pPr marL="0" indent="0" algn="r" rtl="1">
              <a:buNone/>
            </a:pPr>
            <a:r>
              <a:rPr lang="en-US" sz="1400" b="1" dirty="0">
                <a:solidFill>
                  <a:srgbClr val="1F2D27"/>
                </a:solidFill>
              </a:rPr>
              <a:t>Google GenAI</a:t>
            </a:r>
            <a:endParaRPr lang="en-US" sz="1400" dirty="0"/>
          </a:p>
        </p:txBody>
      </p:sp>
      <p:sp>
        <p:nvSpPr>
          <p:cNvPr id="18" name="Text 16"/>
          <p:cNvSpPr/>
          <p:nvPr/>
        </p:nvSpPr>
        <p:spPr>
          <a:xfrm>
            <a:off x="5303520" y="2633472"/>
            <a:ext cx="1371600" cy="731520"/>
          </a:xfrm>
          <a:prstGeom prst="rect">
            <a:avLst/>
          </a:prstGeom>
          <a:noFill/>
          <a:ln/>
        </p:spPr>
        <p:txBody>
          <a:bodyPr wrap="square" lIns="254" tIns="254" rIns="254" bIns="254" rtlCol="0" anchor="t"/>
          <a:lstStyle/>
          <a:p>
            <a:pPr marL="0" indent="0" algn="r" rtl="1">
              <a:buNone/>
            </a:pPr>
            <a:r>
              <a:rPr lang="en-US" sz="1020" dirty="0">
                <a:solidFill>
                  <a:srgbClr val="52645B"/>
                </a:solidFill>
              </a:rPr>
              <a:t>ملخص عربي</a:t>
            </a:r>
            <a:endParaRPr lang="en-US" sz="1020" dirty="0"/>
          </a:p>
          <a:p>
            <a:pPr marL="0" indent="0" algn="r" rtl="1">
              <a:buNone/>
            </a:pPr>
            <a:r>
              <a:rPr lang="en-US" sz="1020" dirty="0">
                <a:solidFill>
                  <a:srgbClr val="52645B"/>
                </a:solidFill>
              </a:rPr>
              <a:t>بدون تشخيص أو علاج</a:t>
            </a:r>
            <a:endParaRPr lang="en-US" sz="1020" dirty="0"/>
          </a:p>
        </p:txBody>
      </p:sp>
      <p:sp>
        <p:nvSpPr>
          <p:cNvPr id="19" name="Shape 17"/>
          <p:cNvSpPr/>
          <p:nvPr/>
        </p:nvSpPr>
        <p:spPr>
          <a:xfrm>
            <a:off x="9308592" y="2514600"/>
            <a:ext cx="347472" cy="310896"/>
          </a:xfrm>
          <a:prstGeom prst="chevron">
            <a:avLst/>
          </a:prstGeom>
          <a:solidFill>
            <a:srgbClr val="D3B29D"/>
          </a:solidFill>
          <a:ln w="12700">
            <a:solidFill>
              <a:srgbClr val="D3B29D"/>
            </a:solidFill>
            <a:prstDash val="solid"/>
          </a:ln>
        </p:spPr>
      </p:sp>
      <p:sp>
        <p:nvSpPr>
          <p:cNvPr id="20" name="Shape 18"/>
          <p:cNvSpPr/>
          <p:nvPr/>
        </p:nvSpPr>
        <p:spPr>
          <a:xfrm>
            <a:off x="7406640" y="2011680"/>
            <a:ext cx="1874520" cy="1508760"/>
          </a:xfrm>
          <a:prstGeom prst="roundRect">
            <a:avLst>
              <a:gd name="adj" fmla="val 4848"/>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21" name="Shape 19"/>
          <p:cNvSpPr/>
          <p:nvPr/>
        </p:nvSpPr>
        <p:spPr>
          <a:xfrm>
            <a:off x="9217152" y="2176272"/>
            <a:ext cx="64008" cy="1179576"/>
          </a:xfrm>
          <a:prstGeom prst="rect">
            <a:avLst/>
          </a:prstGeom>
          <a:solidFill>
            <a:srgbClr val="82998A"/>
          </a:solidFill>
          <a:ln w="12700">
            <a:solidFill>
              <a:srgbClr val="82998A"/>
            </a:solidFill>
            <a:prstDash val="solid"/>
          </a:ln>
        </p:spPr>
      </p:sp>
      <p:sp>
        <p:nvSpPr>
          <p:cNvPr id="22" name="Text 20"/>
          <p:cNvSpPr/>
          <p:nvPr/>
        </p:nvSpPr>
        <p:spPr>
          <a:xfrm>
            <a:off x="7635240" y="2212848"/>
            <a:ext cx="1371600" cy="292608"/>
          </a:xfrm>
          <a:prstGeom prst="rect">
            <a:avLst/>
          </a:prstGeom>
          <a:noFill/>
          <a:ln/>
        </p:spPr>
        <p:txBody>
          <a:bodyPr wrap="square" rtlCol="0" anchor="ctr"/>
          <a:lstStyle/>
          <a:p>
            <a:pPr marL="0" indent="0" algn="r" rtl="1">
              <a:buNone/>
            </a:pPr>
            <a:r>
              <a:rPr lang="en-US" sz="1400" b="1" dirty="0">
                <a:solidFill>
                  <a:srgbClr val="1F2D27"/>
                </a:solidFill>
              </a:rPr>
              <a:t>CareSummary</a:t>
            </a:r>
            <a:endParaRPr lang="en-US" sz="1400" dirty="0"/>
          </a:p>
        </p:txBody>
      </p:sp>
      <p:sp>
        <p:nvSpPr>
          <p:cNvPr id="23" name="Text 21"/>
          <p:cNvSpPr/>
          <p:nvPr/>
        </p:nvSpPr>
        <p:spPr>
          <a:xfrm>
            <a:off x="7635240" y="2633472"/>
            <a:ext cx="1371600" cy="731520"/>
          </a:xfrm>
          <a:prstGeom prst="rect">
            <a:avLst/>
          </a:prstGeom>
          <a:noFill/>
          <a:ln/>
        </p:spPr>
        <p:txBody>
          <a:bodyPr wrap="square" lIns="254" tIns="254" rIns="254" bIns="254" rtlCol="0" anchor="t"/>
          <a:lstStyle/>
          <a:p>
            <a:pPr marL="0" indent="0" algn="r" rtl="1">
              <a:buNone/>
            </a:pPr>
            <a:r>
              <a:rPr lang="en-US" sz="1020" dirty="0">
                <a:solidFill>
                  <a:srgbClr val="52645B"/>
                </a:solidFill>
              </a:rPr>
              <a:t>حفظ الملخص</a:t>
            </a:r>
            <a:endParaRPr lang="en-US" sz="1020" dirty="0"/>
          </a:p>
          <a:p>
            <a:pPr marL="0" indent="0" algn="r" rtl="1">
              <a:buNone/>
            </a:pPr>
            <a:r>
              <a:rPr lang="en-US" sz="1020" dirty="0">
                <a:solidFill>
                  <a:srgbClr val="52645B"/>
                </a:solidFill>
              </a:rPr>
              <a:t>والرجوع له</a:t>
            </a:r>
            <a:endParaRPr lang="en-US" sz="1020" dirty="0"/>
          </a:p>
        </p:txBody>
      </p:sp>
      <p:sp>
        <p:nvSpPr>
          <p:cNvPr id="24" name="Shape 22"/>
          <p:cNvSpPr/>
          <p:nvPr/>
        </p:nvSpPr>
        <p:spPr>
          <a:xfrm>
            <a:off x="9738360" y="2011680"/>
            <a:ext cx="1874520" cy="1508760"/>
          </a:xfrm>
          <a:prstGeom prst="roundRect">
            <a:avLst>
              <a:gd name="adj" fmla="val 4848"/>
            </a:avLst>
          </a:prstGeom>
          <a:solidFill>
            <a:srgbClr val="FFFFFF"/>
          </a:solidFill>
          <a:ln w="12700">
            <a:solidFill>
              <a:srgbClr val="DCE3DE"/>
            </a:solidFill>
            <a:prstDash val="solid"/>
          </a:ln>
          <a:effectLst>
            <a:outerShdw blurRad="19050" dist="50800" dir="2700000" algn="bl" rotWithShape="0">
              <a:srgbClr val="BFC8C2">
                <a:alpha val="14000"/>
              </a:srgbClr>
            </a:outerShdw>
          </a:effectLst>
        </p:spPr>
      </p:sp>
      <p:sp>
        <p:nvSpPr>
          <p:cNvPr id="25" name="Shape 23"/>
          <p:cNvSpPr/>
          <p:nvPr/>
        </p:nvSpPr>
        <p:spPr>
          <a:xfrm>
            <a:off x="11548872" y="2176272"/>
            <a:ext cx="64008" cy="1179576"/>
          </a:xfrm>
          <a:prstGeom prst="rect">
            <a:avLst/>
          </a:prstGeom>
          <a:solidFill>
            <a:srgbClr val="82998A"/>
          </a:solidFill>
          <a:ln w="12700">
            <a:solidFill>
              <a:srgbClr val="82998A"/>
            </a:solidFill>
            <a:prstDash val="solid"/>
          </a:ln>
        </p:spPr>
      </p:sp>
      <p:sp>
        <p:nvSpPr>
          <p:cNvPr id="26" name="Text 24"/>
          <p:cNvSpPr/>
          <p:nvPr/>
        </p:nvSpPr>
        <p:spPr>
          <a:xfrm>
            <a:off x="9966960" y="2212848"/>
            <a:ext cx="1371600" cy="292608"/>
          </a:xfrm>
          <a:prstGeom prst="rect">
            <a:avLst/>
          </a:prstGeom>
          <a:noFill/>
          <a:ln/>
        </p:spPr>
        <p:txBody>
          <a:bodyPr wrap="square" rtlCol="0" anchor="ctr"/>
          <a:lstStyle/>
          <a:p>
            <a:pPr marL="0" indent="0" algn="r" rtl="1">
              <a:buNone/>
            </a:pPr>
            <a:r>
              <a:rPr lang="en-US" sz="1400" b="1" dirty="0">
                <a:solidFill>
                  <a:srgbClr val="1F2D27"/>
                </a:solidFill>
              </a:rPr>
              <a:t>Email</a:t>
            </a:r>
            <a:endParaRPr lang="en-US" sz="1400" dirty="0"/>
          </a:p>
        </p:txBody>
      </p:sp>
      <p:sp>
        <p:nvSpPr>
          <p:cNvPr id="27" name="Text 25"/>
          <p:cNvSpPr/>
          <p:nvPr/>
        </p:nvSpPr>
        <p:spPr>
          <a:xfrm>
            <a:off x="9966960" y="2633472"/>
            <a:ext cx="1371600" cy="731520"/>
          </a:xfrm>
          <a:prstGeom prst="rect">
            <a:avLst/>
          </a:prstGeom>
          <a:noFill/>
          <a:ln/>
        </p:spPr>
        <p:txBody>
          <a:bodyPr wrap="square" lIns="254" tIns="254" rIns="254" bIns="254" rtlCol="0" anchor="t"/>
          <a:lstStyle/>
          <a:p>
            <a:pPr marL="0" indent="0" algn="r" rtl="1">
              <a:buNone/>
            </a:pPr>
            <a:r>
              <a:rPr lang="en-US" sz="1020" dirty="0">
                <a:solidFill>
                  <a:srgbClr val="52645B"/>
                </a:solidFill>
              </a:rPr>
              <a:t>إرسال نسخة</a:t>
            </a:r>
            <a:endParaRPr lang="en-US" sz="1020" dirty="0"/>
          </a:p>
          <a:p>
            <a:pPr marL="0" indent="0" algn="r" rtl="1">
              <a:buNone/>
            </a:pPr>
            <a:r>
              <a:rPr lang="en-US" sz="1020" dirty="0">
                <a:solidFill>
                  <a:srgbClr val="52645B"/>
                </a:solidFill>
              </a:rPr>
              <a:t>لمقدم الرعاية</a:t>
            </a:r>
            <a:endParaRPr lang="en-US" sz="1020" dirty="0"/>
          </a:p>
        </p:txBody>
      </p:sp>
      <p:sp>
        <p:nvSpPr>
          <p:cNvPr id="28" name="Shape 26"/>
          <p:cNvSpPr/>
          <p:nvPr/>
        </p:nvSpPr>
        <p:spPr>
          <a:xfrm>
            <a:off x="1005840" y="4251960"/>
            <a:ext cx="10104120" cy="960120"/>
          </a:xfrm>
          <a:prstGeom prst="roundRect">
            <a:avLst>
              <a:gd name="adj" fmla="val 7619"/>
            </a:avLst>
          </a:prstGeom>
          <a:solidFill>
            <a:srgbClr val="40584D"/>
          </a:solidFill>
          <a:ln w="12700">
            <a:solidFill>
              <a:srgbClr val="40584D"/>
            </a:solidFill>
            <a:prstDash val="solid"/>
          </a:ln>
        </p:spPr>
      </p:sp>
      <p:sp>
        <p:nvSpPr>
          <p:cNvPr id="29" name="Text 27"/>
          <p:cNvSpPr/>
          <p:nvPr/>
        </p:nvSpPr>
        <p:spPr>
          <a:xfrm>
            <a:off x="1371600" y="4553712"/>
            <a:ext cx="9372600" cy="274320"/>
          </a:xfrm>
          <a:prstGeom prst="rect">
            <a:avLst/>
          </a:prstGeom>
          <a:noFill/>
          <a:ln/>
        </p:spPr>
        <p:txBody>
          <a:bodyPr wrap="square" rtlCol="0" anchor="ctr"/>
          <a:lstStyle/>
          <a:p>
            <a:pPr marL="0" indent="0" algn="ctr" rtl="1">
              <a:buNone/>
            </a:pPr>
            <a:r>
              <a:rPr lang="en-US" sz="1300" b="1" dirty="0">
                <a:solidFill>
                  <a:srgbClr val="FFFFFF"/>
                </a:solidFill>
              </a:rPr>
              <a:t>AI في يسر يلخص السجل الموجود فقط — لا يشخص، لا يقترح علاج، ولا يخترع معلومات ناقصة.</a:t>
            </a:r>
            <a:endParaRPr lang="en-US" sz="1300" dirty="0"/>
          </a:p>
        </p:txBody>
      </p:sp>
      <p:sp>
        <p:nvSpPr>
          <p:cNvPr id="30" name="Shape 28"/>
          <p:cNvSpPr/>
          <p:nvPr/>
        </p:nvSpPr>
        <p:spPr>
          <a:xfrm>
            <a:off x="3840480" y="5532120"/>
            <a:ext cx="1965960" cy="347472"/>
          </a:xfrm>
          <a:prstGeom prst="roundRect">
            <a:avLst>
              <a:gd name="adj" fmla="val 39474"/>
            </a:avLst>
          </a:prstGeom>
          <a:solidFill>
            <a:srgbClr val="E8EDE9"/>
          </a:solidFill>
          <a:ln w="12700">
            <a:solidFill>
              <a:srgbClr val="E8EDE9"/>
            </a:solidFill>
            <a:prstDash val="solid"/>
          </a:ln>
        </p:spPr>
      </p:sp>
      <p:sp>
        <p:nvSpPr>
          <p:cNvPr id="31" name="Text 29"/>
          <p:cNvSpPr/>
          <p:nvPr/>
        </p:nvSpPr>
        <p:spPr>
          <a:xfrm>
            <a:off x="3913632" y="5614416"/>
            <a:ext cx="1819656" cy="146304"/>
          </a:xfrm>
          <a:prstGeom prst="rect">
            <a:avLst/>
          </a:prstGeom>
          <a:noFill/>
          <a:ln/>
        </p:spPr>
        <p:txBody>
          <a:bodyPr wrap="square" lIns="0" tIns="0" rIns="0" bIns="0" rtlCol="0" anchor="ctr"/>
          <a:lstStyle/>
          <a:p>
            <a:pPr marL="0" indent="0" algn="ctr" rtl="1">
              <a:buNone/>
            </a:pPr>
            <a:r>
              <a:rPr lang="en-US" sz="850" b="1" dirty="0">
                <a:solidFill>
                  <a:srgbClr val="40584D"/>
                </a:solidFill>
              </a:rPr>
              <a:t>On-Demand Summary</a:t>
            </a:r>
            <a:endParaRPr lang="en-US" sz="850" dirty="0"/>
          </a:p>
        </p:txBody>
      </p:sp>
      <p:sp>
        <p:nvSpPr>
          <p:cNvPr id="32" name="Shape 30"/>
          <p:cNvSpPr/>
          <p:nvPr/>
        </p:nvSpPr>
        <p:spPr>
          <a:xfrm>
            <a:off x="5989320" y="5532120"/>
            <a:ext cx="1965960" cy="347472"/>
          </a:xfrm>
          <a:prstGeom prst="roundRect">
            <a:avLst>
              <a:gd name="adj" fmla="val 39474"/>
            </a:avLst>
          </a:prstGeom>
          <a:solidFill>
            <a:srgbClr val="E8EDE9"/>
          </a:solidFill>
          <a:ln w="12700">
            <a:solidFill>
              <a:srgbClr val="E8EDE9"/>
            </a:solidFill>
            <a:prstDash val="solid"/>
          </a:ln>
        </p:spPr>
      </p:sp>
      <p:sp>
        <p:nvSpPr>
          <p:cNvPr id="33" name="Text 31"/>
          <p:cNvSpPr/>
          <p:nvPr/>
        </p:nvSpPr>
        <p:spPr>
          <a:xfrm>
            <a:off x="6062472" y="5614416"/>
            <a:ext cx="1819656" cy="146304"/>
          </a:xfrm>
          <a:prstGeom prst="rect">
            <a:avLst/>
          </a:prstGeom>
          <a:noFill/>
          <a:ln/>
        </p:spPr>
        <p:txBody>
          <a:bodyPr wrap="square" lIns="0" tIns="0" rIns="0" bIns="0" rtlCol="0" anchor="ctr"/>
          <a:lstStyle/>
          <a:p>
            <a:pPr marL="0" indent="0" algn="ctr" rtl="1">
              <a:buNone/>
            </a:pPr>
            <a:r>
              <a:rPr lang="en-US" sz="850" b="1" dirty="0">
                <a:solidFill>
                  <a:srgbClr val="40584D"/>
                </a:solidFill>
              </a:rPr>
              <a:t>Daily / Weekly / Monthly</a:t>
            </a:r>
            <a:endParaRPr lang="en-US" sz="850" dirty="0"/>
          </a:p>
        </p:txBody>
      </p:sp>
      <p:sp>
        <p:nvSpPr>
          <p:cNvPr id="34"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التقنيات المستخدمة</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TECHNOLOGY STACK</a:t>
            </a:r>
            <a:endParaRPr lang="en-US" sz="800" dirty="0"/>
          </a:p>
        </p:txBody>
      </p:sp>
      <p:sp>
        <p:nvSpPr>
          <p:cNvPr id="4" name="Shape 2"/>
          <p:cNvSpPr/>
          <p:nvPr/>
        </p:nvSpPr>
        <p:spPr>
          <a:xfrm>
            <a:off x="594360" y="1508760"/>
            <a:ext cx="1993392" cy="1078992"/>
          </a:xfrm>
          <a:prstGeom prst="roundRect">
            <a:avLst>
              <a:gd name="adj" fmla="val 6780"/>
            </a:avLst>
          </a:prstGeom>
          <a:solidFill>
            <a:srgbClr val="FFFFFF"/>
          </a:solidFill>
          <a:ln w="12700">
            <a:solidFill>
              <a:srgbClr val="DDE4DF"/>
            </a:solidFill>
            <a:prstDash val="solid"/>
          </a:ln>
        </p:spPr>
      </p:sp>
      <p:sp>
        <p:nvSpPr>
          <p:cNvPr id="5" name="Shape 3"/>
          <p:cNvSpPr/>
          <p:nvPr/>
        </p:nvSpPr>
        <p:spPr>
          <a:xfrm>
            <a:off x="1947672" y="1682496"/>
            <a:ext cx="438912" cy="438912"/>
          </a:xfrm>
          <a:prstGeom prst="ellipse">
            <a:avLst/>
          </a:prstGeom>
          <a:solidFill>
            <a:srgbClr val="ED8B00"/>
          </a:solidFill>
          <a:ln w="12700">
            <a:solidFill>
              <a:srgbClr val="ED8B00"/>
            </a:solidFill>
            <a:prstDash val="solid"/>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39112" y="1773936"/>
            <a:ext cx="256032" cy="256032"/>
          </a:xfrm>
          <a:prstGeom prst="rect">
            <a:avLst/>
          </a:prstGeom>
        </p:spPr>
      </p:pic>
      <p:sp>
        <p:nvSpPr>
          <p:cNvPr id="7" name="Text 4"/>
          <p:cNvSpPr/>
          <p:nvPr/>
        </p:nvSpPr>
        <p:spPr>
          <a:xfrm>
            <a:off x="731520" y="1709928"/>
            <a:ext cx="1097280" cy="219456"/>
          </a:xfrm>
          <a:prstGeom prst="rect">
            <a:avLst/>
          </a:prstGeom>
          <a:noFill/>
          <a:ln/>
        </p:spPr>
        <p:txBody>
          <a:bodyPr wrap="square" rtlCol="0" anchor="ctr"/>
          <a:lstStyle/>
          <a:p>
            <a:pPr marL="0" indent="0" algn="l">
              <a:buNone/>
            </a:pPr>
            <a:r>
              <a:rPr lang="en-US" sz="1100" b="1" dirty="0">
                <a:solidFill>
                  <a:srgbClr val="1F2D27"/>
                </a:solidFill>
              </a:rPr>
              <a:t>Java 17</a:t>
            </a:r>
            <a:endParaRPr lang="en-US" sz="1100" dirty="0"/>
          </a:p>
        </p:txBody>
      </p:sp>
      <p:sp>
        <p:nvSpPr>
          <p:cNvPr id="8" name="Text 5"/>
          <p:cNvSpPr/>
          <p:nvPr/>
        </p:nvSpPr>
        <p:spPr>
          <a:xfrm>
            <a:off x="731520" y="2084832"/>
            <a:ext cx="1645920" cy="256032"/>
          </a:xfrm>
          <a:prstGeom prst="rect">
            <a:avLst/>
          </a:prstGeom>
          <a:noFill/>
          <a:ln/>
        </p:spPr>
        <p:txBody>
          <a:bodyPr wrap="square" rtlCol="0" anchor="ctr"/>
          <a:lstStyle/>
          <a:p>
            <a:pPr marL="0" indent="0" algn="l">
              <a:buNone/>
            </a:pPr>
            <a:r>
              <a:rPr lang="en-US" sz="780" dirty="0">
                <a:solidFill>
                  <a:srgbClr val="68776F"/>
                </a:solidFill>
              </a:rPr>
              <a:t>Core language</a:t>
            </a:r>
            <a:endParaRPr lang="en-US" sz="780" dirty="0"/>
          </a:p>
        </p:txBody>
      </p:sp>
      <p:sp>
        <p:nvSpPr>
          <p:cNvPr id="9" name="Shape 6"/>
          <p:cNvSpPr/>
          <p:nvPr/>
        </p:nvSpPr>
        <p:spPr>
          <a:xfrm>
            <a:off x="2743200" y="1508760"/>
            <a:ext cx="1993392" cy="1078992"/>
          </a:xfrm>
          <a:prstGeom prst="roundRect">
            <a:avLst>
              <a:gd name="adj" fmla="val 6780"/>
            </a:avLst>
          </a:prstGeom>
          <a:solidFill>
            <a:srgbClr val="FFFFFF"/>
          </a:solidFill>
          <a:ln w="12700">
            <a:solidFill>
              <a:srgbClr val="DDE4DF"/>
            </a:solidFill>
            <a:prstDash val="solid"/>
          </a:ln>
        </p:spPr>
      </p:sp>
      <p:sp>
        <p:nvSpPr>
          <p:cNvPr id="10" name="Shape 7"/>
          <p:cNvSpPr/>
          <p:nvPr/>
        </p:nvSpPr>
        <p:spPr>
          <a:xfrm>
            <a:off x="4096512" y="1682496"/>
            <a:ext cx="438912" cy="438912"/>
          </a:xfrm>
          <a:prstGeom prst="ellipse">
            <a:avLst/>
          </a:prstGeom>
          <a:solidFill>
            <a:srgbClr val="6DB33F"/>
          </a:solidFill>
          <a:ln w="12700">
            <a:solidFill>
              <a:srgbClr val="6DB33F"/>
            </a:solidFill>
            <a:prstDash val="solid"/>
          </a:ln>
        </p:spPr>
      </p:sp>
      <p:sp>
        <p:nvSpPr>
          <p:cNvPr id="11" name="Text 8"/>
          <p:cNvSpPr/>
          <p:nvPr/>
        </p:nvSpPr>
        <p:spPr>
          <a:xfrm>
            <a:off x="2880360" y="1709928"/>
            <a:ext cx="1097280" cy="219456"/>
          </a:xfrm>
          <a:prstGeom prst="rect">
            <a:avLst/>
          </a:prstGeom>
          <a:noFill/>
          <a:ln/>
        </p:spPr>
        <p:txBody>
          <a:bodyPr wrap="square" rtlCol="0" anchor="ctr"/>
          <a:lstStyle/>
          <a:p>
            <a:pPr marL="0" indent="0" algn="l">
              <a:buNone/>
            </a:pPr>
            <a:r>
              <a:rPr lang="en-US" sz="1100" b="1" dirty="0">
                <a:solidFill>
                  <a:srgbClr val="1F2D27"/>
                </a:solidFill>
              </a:rPr>
              <a:t>Spring Boot</a:t>
            </a:r>
            <a:endParaRPr lang="en-US" sz="1100" dirty="0"/>
          </a:p>
        </p:txBody>
      </p:sp>
      <p:sp>
        <p:nvSpPr>
          <p:cNvPr id="12" name="Text 9"/>
          <p:cNvSpPr/>
          <p:nvPr/>
        </p:nvSpPr>
        <p:spPr>
          <a:xfrm>
            <a:off x="2880360" y="2084832"/>
            <a:ext cx="1645920" cy="256032"/>
          </a:xfrm>
          <a:prstGeom prst="rect">
            <a:avLst/>
          </a:prstGeom>
          <a:noFill/>
          <a:ln/>
        </p:spPr>
        <p:txBody>
          <a:bodyPr wrap="square" rtlCol="0" anchor="ctr"/>
          <a:lstStyle/>
          <a:p>
            <a:pPr marL="0" indent="0" algn="l">
              <a:buNone/>
            </a:pPr>
            <a:r>
              <a:rPr lang="en-US" sz="780" dirty="0">
                <a:solidFill>
                  <a:srgbClr val="68776F"/>
                </a:solidFill>
              </a:rPr>
              <a:t>Web MVC • JPA • Validation</a:t>
            </a:r>
            <a:endParaRPr lang="en-US" sz="780" dirty="0"/>
          </a:p>
        </p:txBody>
      </p:sp>
      <p:sp>
        <p:nvSpPr>
          <p:cNvPr id="13" name="Shape 10"/>
          <p:cNvSpPr/>
          <p:nvPr/>
        </p:nvSpPr>
        <p:spPr>
          <a:xfrm>
            <a:off x="4892040" y="1508760"/>
            <a:ext cx="1993392" cy="1078992"/>
          </a:xfrm>
          <a:prstGeom prst="roundRect">
            <a:avLst>
              <a:gd name="adj" fmla="val 6780"/>
            </a:avLst>
          </a:prstGeom>
          <a:solidFill>
            <a:srgbClr val="FFFFFF"/>
          </a:solidFill>
          <a:ln w="12700">
            <a:solidFill>
              <a:srgbClr val="DDE4DF"/>
            </a:solidFill>
            <a:prstDash val="solid"/>
          </a:ln>
        </p:spPr>
      </p:sp>
      <p:sp>
        <p:nvSpPr>
          <p:cNvPr id="14" name="Shape 11"/>
          <p:cNvSpPr/>
          <p:nvPr/>
        </p:nvSpPr>
        <p:spPr>
          <a:xfrm>
            <a:off x="6245352" y="1682496"/>
            <a:ext cx="438912" cy="438912"/>
          </a:xfrm>
          <a:prstGeom prst="ellipse">
            <a:avLst/>
          </a:prstGeom>
          <a:solidFill>
            <a:srgbClr val="4479A1"/>
          </a:solidFill>
          <a:ln w="12700">
            <a:solidFill>
              <a:srgbClr val="4479A1"/>
            </a:solidFill>
            <a:prstDash val="solid"/>
          </a:ln>
        </p:spPr>
      </p:sp>
      <p:sp>
        <p:nvSpPr>
          <p:cNvPr id="15" name="Text 12"/>
          <p:cNvSpPr/>
          <p:nvPr/>
        </p:nvSpPr>
        <p:spPr>
          <a:xfrm>
            <a:off x="5029200" y="1709928"/>
            <a:ext cx="1097280" cy="219456"/>
          </a:xfrm>
          <a:prstGeom prst="rect">
            <a:avLst/>
          </a:prstGeom>
          <a:noFill/>
          <a:ln/>
        </p:spPr>
        <p:txBody>
          <a:bodyPr wrap="square" rtlCol="0" anchor="ctr"/>
          <a:lstStyle/>
          <a:p>
            <a:pPr marL="0" indent="0" algn="l">
              <a:buNone/>
            </a:pPr>
            <a:r>
              <a:rPr lang="en-US" sz="1100" b="1" dirty="0">
                <a:solidFill>
                  <a:srgbClr val="1F2D27"/>
                </a:solidFill>
              </a:rPr>
              <a:t>MySQL</a:t>
            </a:r>
            <a:endParaRPr lang="en-US" sz="1100" dirty="0"/>
          </a:p>
        </p:txBody>
      </p:sp>
      <p:sp>
        <p:nvSpPr>
          <p:cNvPr id="16" name="Text 13"/>
          <p:cNvSpPr/>
          <p:nvPr/>
        </p:nvSpPr>
        <p:spPr>
          <a:xfrm>
            <a:off x="5029200" y="2084832"/>
            <a:ext cx="1645920" cy="256032"/>
          </a:xfrm>
          <a:prstGeom prst="rect">
            <a:avLst/>
          </a:prstGeom>
          <a:noFill/>
          <a:ln/>
        </p:spPr>
        <p:txBody>
          <a:bodyPr wrap="square" rtlCol="0" anchor="ctr"/>
          <a:lstStyle/>
          <a:p>
            <a:pPr marL="0" indent="0" algn="l">
              <a:buNone/>
            </a:pPr>
            <a:r>
              <a:rPr lang="en-US" sz="780" dirty="0">
                <a:solidFill>
                  <a:srgbClr val="68776F"/>
                </a:solidFill>
              </a:rPr>
              <a:t>Persistent relational data</a:t>
            </a:r>
            <a:endParaRPr lang="en-US" sz="780" dirty="0"/>
          </a:p>
        </p:txBody>
      </p:sp>
      <p:sp>
        <p:nvSpPr>
          <p:cNvPr id="17" name="Shape 14"/>
          <p:cNvSpPr/>
          <p:nvPr/>
        </p:nvSpPr>
        <p:spPr>
          <a:xfrm>
            <a:off x="7040880" y="1508760"/>
            <a:ext cx="1993392" cy="1078992"/>
          </a:xfrm>
          <a:prstGeom prst="roundRect">
            <a:avLst>
              <a:gd name="adj" fmla="val 6780"/>
            </a:avLst>
          </a:prstGeom>
          <a:solidFill>
            <a:srgbClr val="FFFFFF"/>
          </a:solidFill>
          <a:ln w="12700">
            <a:solidFill>
              <a:srgbClr val="DDE4DF"/>
            </a:solidFill>
            <a:prstDash val="solid"/>
          </a:ln>
        </p:spPr>
      </p:sp>
      <p:sp>
        <p:nvSpPr>
          <p:cNvPr id="18" name="Shape 15"/>
          <p:cNvSpPr/>
          <p:nvPr/>
        </p:nvSpPr>
        <p:spPr>
          <a:xfrm>
            <a:off x="8394192" y="1682496"/>
            <a:ext cx="438912" cy="438912"/>
          </a:xfrm>
          <a:prstGeom prst="ellipse">
            <a:avLst/>
          </a:prstGeom>
          <a:solidFill>
            <a:srgbClr val="4285F4"/>
          </a:solidFill>
          <a:ln w="12700">
            <a:solidFill>
              <a:srgbClr val="4285F4"/>
            </a:solidFill>
            <a:prstDash val="solid"/>
          </a:ln>
        </p:spPr>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5632" y="1773936"/>
            <a:ext cx="256032" cy="256032"/>
          </a:xfrm>
          <a:prstGeom prst="rect">
            <a:avLst/>
          </a:prstGeom>
        </p:spPr>
      </p:pic>
      <p:sp>
        <p:nvSpPr>
          <p:cNvPr id="20" name="Text 16"/>
          <p:cNvSpPr/>
          <p:nvPr/>
        </p:nvSpPr>
        <p:spPr>
          <a:xfrm>
            <a:off x="7178040" y="1709928"/>
            <a:ext cx="1097280" cy="219456"/>
          </a:xfrm>
          <a:prstGeom prst="rect">
            <a:avLst/>
          </a:prstGeom>
          <a:noFill/>
          <a:ln/>
        </p:spPr>
        <p:txBody>
          <a:bodyPr wrap="square" rtlCol="0" anchor="ctr"/>
          <a:lstStyle/>
          <a:p>
            <a:pPr marL="0" indent="0" algn="l">
              <a:buNone/>
            </a:pPr>
            <a:r>
              <a:rPr lang="en-US" sz="1100" b="1" dirty="0">
                <a:solidFill>
                  <a:srgbClr val="1F2D27"/>
                </a:solidFill>
              </a:rPr>
              <a:t>Google GenAI</a:t>
            </a:r>
            <a:endParaRPr lang="en-US" sz="1100" dirty="0"/>
          </a:p>
        </p:txBody>
      </p:sp>
      <p:sp>
        <p:nvSpPr>
          <p:cNvPr id="21" name="Text 17"/>
          <p:cNvSpPr/>
          <p:nvPr/>
        </p:nvSpPr>
        <p:spPr>
          <a:xfrm>
            <a:off x="7178040" y="2084832"/>
            <a:ext cx="1645920" cy="256032"/>
          </a:xfrm>
          <a:prstGeom prst="rect">
            <a:avLst/>
          </a:prstGeom>
          <a:noFill/>
          <a:ln/>
        </p:spPr>
        <p:txBody>
          <a:bodyPr wrap="square" rtlCol="0" anchor="ctr"/>
          <a:lstStyle/>
          <a:p>
            <a:pPr marL="0" indent="0" algn="l">
              <a:buNone/>
            </a:pPr>
            <a:r>
              <a:rPr lang="en-US" sz="780" dirty="0">
                <a:solidFill>
                  <a:srgbClr val="68776F"/>
                </a:solidFill>
              </a:rPr>
              <a:t>AI care summaries</a:t>
            </a:r>
            <a:endParaRPr lang="en-US" sz="780" dirty="0"/>
          </a:p>
        </p:txBody>
      </p:sp>
      <p:sp>
        <p:nvSpPr>
          <p:cNvPr id="22" name="Shape 18"/>
          <p:cNvSpPr/>
          <p:nvPr/>
        </p:nvSpPr>
        <p:spPr>
          <a:xfrm>
            <a:off x="9189720" y="1508760"/>
            <a:ext cx="1993392" cy="1078992"/>
          </a:xfrm>
          <a:prstGeom prst="roundRect">
            <a:avLst>
              <a:gd name="adj" fmla="val 6780"/>
            </a:avLst>
          </a:prstGeom>
          <a:solidFill>
            <a:srgbClr val="FFFFFF"/>
          </a:solidFill>
          <a:ln w="12700">
            <a:solidFill>
              <a:srgbClr val="DDE4DF"/>
            </a:solidFill>
            <a:prstDash val="solid"/>
          </a:ln>
        </p:spPr>
      </p:sp>
      <p:sp>
        <p:nvSpPr>
          <p:cNvPr id="23" name="Shape 19"/>
          <p:cNvSpPr/>
          <p:nvPr/>
        </p:nvSpPr>
        <p:spPr>
          <a:xfrm>
            <a:off x="10543032" y="1682496"/>
            <a:ext cx="438912" cy="438912"/>
          </a:xfrm>
          <a:prstGeom prst="ellipse">
            <a:avLst/>
          </a:prstGeom>
          <a:solidFill>
            <a:srgbClr val="F22F46"/>
          </a:solidFill>
          <a:ln w="12700">
            <a:solidFill>
              <a:srgbClr val="F22F46"/>
            </a:solidFill>
            <a:prstDash val="solid"/>
          </a:ln>
        </p:spPr>
      </p:sp>
      <p:sp>
        <p:nvSpPr>
          <p:cNvPr id="24" name="Text 20"/>
          <p:cNvSpPr/>
          <p:nvPr/>
        </p:nvSpPr>
        <p:spPr>
          <a:xfrm>
            <a:off x="9326880" y="1709928"/>
            <a:ext cx="1097280" cy="219456"/>
          </a:xfrm>
          <a:prstGeom prst="rect">
            <a:avLst/>
          </a:prstGeom>
          <a:noFill/>
          <a:ln/>
        </p:spPr>
        <p:txBody>
          <a:bodyPr wrap="square" rtlCol="0" anchor="ctr"/>
          <a:lstStyle/>
          <a:p>
            <a:pPr marL="0" indent="0" algn="l">
              <a:buNone/>
            </a:pPr>
            <a:r>
              <a:rPr lang="en-US" sz="1100" b="1" dirty="0">
                <a:solidFill>
                  <a:srgbClr val="1F2D27"/>
                </a:solidFill>
              </a:rPr>
              <a:t>Twilio</a:t>
            </a:r>
            <a:endParaRPr lang="en-US" sz="1100" dirty="0"/>
          </a:p>
        </p:txBody>
      </p:sp>
      <p:sp>
        <p:nvSpPr>
          <p:cNvPr id="25" name="Text 21"/>
          <p:cNvSpPr/>
          <p:nvPr/>
        </p:nvSpPr>
        <p:spPr>
          <a:xfrm>
            <a:off x="9326880" y="2084832"/>
            <a:ext cx="1645920" cy="256032"/>
          </a:xfrm>
          <a:prstGeom prst="rect">
            <a:avLst/>
          </a:prstGeom>
          <a:noFill/>
          <a:ln/>
        </p:spPr>
        <p:txBody>
          <a:bodyPr wrap="square" rtlCol="0" anchor="ctr"/>
          <a:lstStyle/>
          <a:p>
            <a:pPr marL="0" indent="0" algn="l">
              <a:buNone/>
            </a:pPr>
            <a:r>
              <a:rPr lang="en-US" sz="780" dirty="0">
                <a:solidFill>
                  <a:srgbClr val="68776F"/>
                </a:solidFill>
              </a:rPr>
              <a:t>WhatsApp notifications</a:t>
            </a:r>
            <a:endParaRPr lang="en-US" sz="780" dirty="0"/>
          </a:p>
        </p:txBody>
      </p:sp>
      <p:sp>
        <p:nvSpPr>
          <p:cNvPr id="26" name="Shape 22"/>
          <p:cNvSpPr/>
          <p:nvPr/>
        </p:nvSpPr>
        <p:spPr>
          <a:xfrm>
            <a:off x="1691640" y="2971800"/>
            <a:ext cx="1993392" cy="1078992"/>
          </a:xfrm>
          <a:prstGeom prst="roundRect">
            <a:avLst>
              <a:gd name="adj" fmla="val 6780"/>
            </a:avLst>
          </a:prstGeom>
          <a:solidFill>
            <a:srgbClr val="FFFFFF"/>
          </a:solidFill>
          <a:ln w="12700">
            <a:solidFill>
              <a:srgbClr val="DDE4DF"/>
            </a:solidFill>
            <a:prstDash val="solid"/>
          </a:ln>
        </p:spPr>
      </p:sp>
      <p:sp>
        <p:nvSpPr>
          <p:cNvPr id="27" name="Shape 23"/>
          <p:cNvSpPr/>
          <p:nvPr/>
        </p:nvSpPr>
        <p:spPr>
          <a:xfrm>
            <a:off x="3044952" y="3145536"/>
            <a:ext cx="438912" cy="438912"/>
          </a:xfrm>
          <a:prstGeom prst="ellipse">
            <a:avLst/>
          </a:prstGeom>
          <a:solidFill>
            <a:srgbClr val="E34F26"/>
          </a:solidFill>
          <a:ln w="12700">
            <a:solidFill>
              <a:srgbClr val="E34F26"/>
            </a:solidFill>
            <a:prstDash val="solid"/>
          </a:ln>
        </p:spPr>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36392" y="3236976"/>
            <a:ext cx="256032" cy="256032"/>
          </a:xfrm>
          <a:prstGeom prst="rect">
            <a:avLst/>
          </a:prstGeom>
        </p:spPr>
      </p:pic>
      <p:sp>
        <p:nvSpPr>
          <p:cNvPr id="29" name="Text 24"/>
          <p:cNvSpPr/>
          <p:nvPr/>
        </p:nvSpPr>
        <p:spPr>
          <a:xfrm>
            <a:off x="1828800" y="3172968"/>
            <a:ext cx="1097280" cy="219456"/>
          </a:xfrm>
          <a:prstGeom prst="rect">
            <a:avLst/>
          </a:prstGeom>
          <a:noFill/>
          <a:ln/>
        </p:spPr>
        <p:txBody>
          <a:bodyPr wrap="square" rtlCol="0" anchor="ctr"/>
          <a:lstStyle/>
          <a:p>
            <a:pPr marL="0" indent="0" algn="l">
              <a:buNone/>
            </a:pPr>
            <a:r>
              <a:rPr lang="en-US" sz="1100" b="1" dirty="0">
                <a:solidFill>
                  <a:srgbClr val="1F2D27"/>
                </a:solidFill>
              </a:rPr>
              <a:t>HTML5</a:t>
            </a:r>
            <a:endParaRPr lang="en-US" sz="1100" dirty="0"/>
          </a:p>
        </p:txBody>
      </p:sp>
      <p:sp>
        <p:nvSpPr>
          <p:cNvPr id="30" name="Text 25"/>
          <p:cNvSpPr/>
          <p:nvPr/>
        </p:nvSpPr>
        <p:spPr>
          <a:xfrm>
            <a:off x="1828800" y="3547872"/>
            <a:ext cx="1645920" cy="256032"/>
          </a:xfrm>
          <a:prstGeom prst="rect">
            <a:avLst/>
          </a:prstGeom>
          <a:noFill/>
          <a:ln/>
        </p:spPr>
        <p:txBody>
          <a:bodyPr wrap="square" rtlCol="0" anchor="ctr"/>
          <a:lstStyle/>
          <a:p>
            <a:pPr marL="0" indent="0" algn="l">
              <a:buNone/>
            </a:pPr>
            <a:r>
              <a:rPr lang="en-US" sz="780" dirty="0">
                <a:solidFill>
                  <a:srgbClr val="68776F"/>
                </a:solidFill>
              </a:rPr>
              <a:t>Frontend structure</a:t>
            </a:r>
            <a:endParaRPr lang="en-US" sz="780" dirty="0"/>
          </a:p>
        </p:txBody>
      </p:sp>
      <p:sp>
        <p:nvSpPr>
          <p:cNvPr id="31" name="Shape 26"/>
          <p:cNvSpPr/>
          <p:nvPr/>
        </p:nvSpPr>
        <p:spPr>
          <a:xfrm>
            <a:off x="3840480" y="2971800"/>
            <a:ext cx="1993392" cy="1078992"/>
          </a:xfrm>
          <a:prstGeom prst="roundRect">
            <a:avLst>
              <a:gd name="adj" fmla="val 6780"/>
            </a:avLst>
          </a:prstGeom>
          <a:solidFill>
            <a:srgbClr val="FFFFFF"/>
          </a:solidFill>
          <a:ln w="12700">
            <a:solidFill>
              <a:srgbClr val="DDE4DF"/>
            </a:solidFill>
            <a:prstDash val="solid"/>
          </a:ln>
        </p:spPr>
      </p:sp>
      <p:sp>
        <p:nvSpPr>
          <p:cNvPr id="32" name="Shape 27"/>
          <p:cNvSpPr/>
          <p:nvPr/>
        </p:nvSpPr>
        <p:spPr>
          <a:xfrm>
            <a:off x="5193792" y="3145536"/>
            <a:ext cx="438912" cy="438912"/>
          </a:xfrm>
          <a:prstGeom prst="ellipse">
            <a:avLst/>
          </a:prstGeom>
          <a:solidFill>
            <a:srgbClr val="663399"/>
          </a:solidFill>
          <a:ln w="12700">
            <a:solidFill>
              <a:srgbClr val="663399"/>
            </a:solidFill>
            <a:prstDash val="solid"/>
          </a:ln>
        </p:spPr>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85232" y="3236976"/>
            <a:ext cx="256032" cy="256032"/>
          </a:xfrm>
          <a:prstGeom prst="rect">
            <a:avLst/>
          </a:prstGeom>
        </p:spPr>
      </p:pic>
      <p:sp>
        <p:nvSpPr>
          <p:cNvPr id="34" name="Text 28"/>
          <p:cNvSpPr/>
          <p:nvPr/>
        </p:nvSpPr>
        <p:spPr>
          <a:xfrm>
            <a:off x="3977640" y="3172968"/>
            <a:ext cx="1097280" cy="219456"/>
          </a:xfrm>
          <a:prstGeom prst="rect">
            <a:avLst/>
          </a:prstGeom>
          <a:noFill/>
          <a:ln/>
        </p:spPr>
        <p:txBody>
          <a:bodyPr wrap="square" rtlCol="0" anchor="ctr"/>
          <a:lstStyle/>
          <a:p>
            <a:pPr marL="0" indent="0" algn="l">
              <a:buNone/>
            </a:pPr>
            <a:r>
              <a:rPr lang="en-US" sz="1100" b="1" dirty="0">
                <a:solidFill>
                  <a:srgbClr val="1F2D27"/>
                </a:solidFill>
              </a:rPr>
              <a:t>CSS3</a:t>
            </a:r>
            <a:endParaRPr lang="en-US" sz="1100" dirty="0"/>
          </a:p>
        </p:txBody>
      </p:sp>
      <p:sp>
        <p:nvSpPr>
          <p:cNvPr id="35" name="Text 29"/>
          <p:cNvSpPr/>
          <p:nvPr/>
        </p:nvSpPr>
        <p:spPr>
          <a:xfrm>
            <a:off x="3977640" y="3547872"/>
            <a:ext cx="1645920" cy="256032"/>
          </a:xfrm>
          <a:prstGeom prst="rect">
            <a:avLst/>
          </a:prstGeom>
          <a:noFill/>
          <a:ln/>
        </p:spPr>
        <p:txBody>
          <a:bodyPr wrap="square" rtlCol="0" anchor="ctr"/>
          <a:lstStyle/>
          <a:p>
            <a:pPr marL="0" indent="0" algn="l">
              <a:buNone/>
            </a:pPr>
            <a:r>
              <a:rPr lang="en-US" sz="780" dirty="0">
                <a:solidFill>
                  <a:srgbClr val="68776F"/>
                </a:solidFill>
              </a:rPr>
              <a:t>Yusr visual identity</a:t>
            </a:r>
            <a:endParaRPr lang="en-US" sz="780" dirty="0"/>
          </a:p>
        </p:txBody>
      </p:sp>
      <p:sp>
        <p:nvSpPr>
          <p:cNvPr id="36" name="Shape 30"/>
          <p:cNvSpPr/>
          <p:nvPr/>
        </p:nvSpPr>
        <p:spPr>
          <a:xfrm>
            <a:off x="5989320" y="2971800"/>
            <a:ext cx="1993392" cy="1078992"/>
          </a:xfrm>
          <a:prstGeom prst="roundRect">
            <a:avLst>
              <a:gd name="adj" fmla="val 6780"/>
            </a:avLst>
          </a:prstGeom>
          <a:solidFill>
            <a:srgbClr val="FFFFFF"/>
          </a:solidFill>
          <a:ln w="12700">
            <a:solidFill>
              <a:srgbClr val="DDE4DF"/>
            </a:solidFill>
            <a:prstDash val="solid"/>
          </a:ln>
        </p:spPr>
      </p:sp>
      <p:sp>
        <p:nvSpPr>
          <p:cNvPr id="37" name="Shape 31"/>
          <p:cNvSpPr/>
          <p:nvPr/>
        </p:nvSpPr>
        <p:spPr>
          <a:xfrm>
            <a:off x="7342632" y="3145536"/>
            <a:ext cx="438912" cy="438912"/>
          </a:xfrm>
          <a:prstGeom prst="ellipse">
            <a:avLst/>
          </a:prstGeom>
          <a:solidFill>
            <a:srgbClr val="F7DF1E"/>
          </a:solidFill>
          <a:ln w="12700">
            <a:solidFill>
              <a:srgbClr val="F7DF1E"/>
            </a:solidFill>
            <a:prstDash val="solid"/>
          </a:ln>
        </p:spPr>
      </p:sp>
      <p:pic>
        <p:nvPicPr>
          <p:cNvPr id="3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34072" y="3236976"/>
            <a:ext cx="256032" cy="256032"/>
          </a:xfrm>
          <a:prstGeom prst="rect">
            <a:avLst/>
          </a:prstGeom>
        </p:spPr>
      </p:pic>
      <p:sp>
        <p:nvSpPr>
          <p:cNvPr id="39" name="Text 32"/>
          <p:cNvSpPr/>
          <p:nvPr/>
        </p:nvSpPr>
        <p:spPr>
          <a:xfrm>
            <a:off x="6126480" y="3172968"/>
            <a:ext cx="1097280" cy="219456"/>
          </a:xfrm>
          <a:prstGeom prst="rect">
            <a:avLst/>
          </a:prstGeom>
          <a:noFill/>
          <a:ln/>
        </p:spPr>
        <p:txBody>
          <a:bodyPr wrap="square" rtlCol="0" anchor="ctr"/>
          <a:lstStyle/>
          <a:p>
            <a:pPr marL="0" indent="0" algn="l">
              <a:buNone/>
            </a:pPr>
            <a:r>
              <a:rPr lang="en-US" sz="1100" b="1" dirty="0">
                <a:solidFill>
                  <a:srgbClr val="1F2D27"/>
                </a:solidFill>
              </a:rPr>
              <a:t>JavaScript</a:t>
            </a:r>
            <a:endParaRPr lang="en-US" sz="1100" dirty="0"/>
          </a:p>
        </p:txBody>
      </p:sp>
      <p:sp>
        <p:nvSpPr>
          <p:cNvPr id="40" name="Text 33"/>
          <p:cNvSpPr/>
          <p:nvPr/>
        </p:nvSpPr>
        <p:spPr>
          <a:xfrm>
            <a:off x="6126480" y="3547872"/>
            <a:ext cx="1645920" cy="256032"/>
          </a:xfrm>
          <a:prstGeom prst="rect">
            <a:avLst/>
          </a:prstGeom>
          <a:noFill/>
          <a:ln/>
        </p:spPr>
        <p:txBody>
          <a:bodyPr wrap="square" rtlCol="0" anchor="ctr"/>
          <a:lstStyle/>
          <a:p>
            <a:pPr marL="0" indent="0" algn="l">
              <a:buNone/>
            </a:pPr>
            <a:r>
              <a:rPr lang="en-US" sz="780" dirty="0">
                <a:solidFill>
                  <a:srgbClr val="68776F"/>
                </a:solidFill>
              </a:rPr>
              <a:t>Frontend interactions + API</a:t>
            </a:r>
            <a:endParaRPr lang="en-US" sz="780" dirty="0"/>
          </a:p>
        </p:txBody>
      </p:sp>
      <p:sp>
        <p:nvSpPr>
          <p:cNvPr id="41" name="Shape 34"/>
          <p:cNvSpPr/>
          <p:nvPr/>
        </p:nvSpPr>
        <p:spPr>
          <a:xfrm>
            <a:off x="8138160" y="2971800"/>
            <a:ext cx="1993392" cy="1078992"/>
          </a:xfrm>
          <a:prstGeom prst="roundRect">
            <a:avLst>
              <a:gd name="adj" fmla="val 6780"/>
            </a:avLst>
          </a:prstGeom>
          <a:solidFill>
            <a:srgbClr val="FFFFFF"/>
          </a:solidFill>
          <a:ln w="12700">
            <a:solidFill>
              <a:srgbClr val="DDE4DF"/>
            </a:solidFill>
            <a:prstDash val="solid"/>
          </a:ln>
        </p:spPr>
      </p:sp>
      <p:sp>
        <p:nvSpPr>
          <p:cNvPr id="42" name="Shape 35"/>
          <p:cNvSpPr/>
          <p:nvPr/>
        </p:nvSpPr>
        <p:spPr>
          <a:xfrm>
            <a:off x="9491472" y="3145536"/>
            <a:ext cx="438912" cy="438912"/>
          </a:xfrm>
          <a:prstGeom prst="ellipse">
            <a:avLst/>
          </a:prstGeom>
          <a:solidFill>
            <a:srgbClr val="005F0F"/>
          </a:solidFill>
          <a:ln w="12700">
            <a:solidFill>
              <a:srgbClr val="005F0F"/>
            </a:solidFill>
            <a:prstDash val="solid"/>
          </a:ln>
        </p:spPr>
      </p:sp>
      <p:sp>
        <p:nvSpPr>
          <p:cNvPr id="43" name="Text 36"/>
          <p:cNvSpPr/>
          <p:nvPr/>
        </p:nvSpPr>
        <p:spPr>
          <a:xfrm>
            <a:off x="8275320" y="3172968"/>
            <a:ext cx="1097280" cy="219456"/>
          </a:xfrm>
          <a:prstGeom prst="rect">
            <a:avLst/>
          </a:prstGeom>
          <a:noFill/>
          <a:ln/>
        </p:spPr>
        <p:txBody>
          <a:bodyPr wrap="square" rtlCol="0" anchor="ctr"/>
          <a:lstStyle/>
          <a:p>
            <a:pPr marL="0" indent="0" algn="l">
              <a:buNone/>
            </a:pPr>
            <a:r>
              <a:rPr lang="en-US" sz="1100" b="1" dirty="0">
                <a:solidFill>
                  <a:srgbClr val="1F2D27"/>
                </a:solidFill>
              </a:rPr>
              <a:t>Thymeleaf</a:t>
            </a:r>
            <a:endParaRPr lang="en-US" sz="1100" dirty="0"/>
          </a:p>
        </p:txBody>
      </p:sp>
      <p:sp>
        <p:nvSpPr>
          <p:cNvPr id="44" name="Text 37"/>
          <p:cNvSpPr/>
          <p:nvPr/>
        </p:nvSpPr>
        <p:spPr>
          <a:xfrm>
            <a:off x="8275320" y="3547872"/>
            <a:ext cx="1645920" cy="256032"/>
          </a:xfrm>
          <a:prstGeom prst="rect">
            <a:avLst/>
          </a:prstGeom>
          <a:noFill/>
          <a:ln/>
        </p:spPr>
        <p:txBody>
          <a:bodyPr wrap="square" rtlCol="0" anchor="ctr"/>
          <a:lstStyle/>
          <a:p>
            <a:pPr marL="0" indent="0" algn="l">
              <a:buNone/>
            </a:pPr>
            <a:r>
              <a:rPr lang="en-US" sz="780" dirty="0">
                <a:solidFill>
                  <a:srgbClr val="68776F"/>
                </a:solidFill>
              </a:rPr>
              <a:t>Spring templates</a:t>
            </a:r>
            <a:endParaRPr lang="en-US" sz="780" dirty="0"/>
          </a:p>
        </p:txBody>
      </p:sp>
      <p:sp>
        <p:nvSpPr>
          <p:cNvPr id="45" name="Shape 38"/>
          <p:cNvSpPr/>
          <p:nvPr/>
        </p:nvSpPr>
        <p:spPr>
          <a:xfrm>
            <a:off x="1051560" y="4709160"/>
            <a:ext cx="10058400" cy="960120"/>
          </a:xfrm>
          <a:prstGeom prst="roundRect">
            <a:avLst>
              <a:gd name="adj" fmla="val 7619"/>
            </a:avLst>
          </a:prstGeom>
          <a:solidFill>
            <a:srgbClr val="E8EDE9"/>
          </a:solidFill>
          <a:ln w="12700">
            <a:solidFill>
              <a:srgbClr val="D7E0DA"/>
            </a:solidFill>
            <a:prstDash val="solid"/>
          </a:ln>
        </p:spPr>
      </p:sp>
      <p:sp>
        <p:nvSpPr>
          <p:cNvPr id="46" name="Text 39"/>
          <p:cNvSpPr/>
          <p:nvPr/>
        </p:nvSpPr>
        <p:spPr>
          <a:xfrm>
            <a:off x="1325880" y="5010912"/>
            <a:ext cx="9509760" cy="256032"/>
          </a:xfrm>
          <a:prstGeom prst="rect">
            <a:avLst/>
          </a:prstGeom>
          <a:noFill/>
          <a:ln/>
        </p:spPr>
        <p:txBody>
          <a:bodyPr wrap="square" rtlCol="0" anchor="ctr"/>
          <a:lstStyle/>
          <a:p>
            <a:pPr marL="0" indent="0" algn="ctr">
              <a:buNone/>
            </a:pPr>
            <a:r>
              <a:rPr lang="en-US" sz="1300" b="1" dirty="0">
                <a:solidFill>
                  <a:srgbClr val="40584D"/>
                </a:solidFill>
              </a:rPr>
              <a:t>@Transactional  •  @Scheduled  •  Spring Mail / Brevo SMTP  •  Maven  •  REST APIs</a:t>
            </a:r>
            <a:endParaRPr lang="en-US" sz="1300" dirty="0"/>
          </a:p>
        </p:txBody>
      </p:sp>
      <p:sp>
        <p:nvSpPr>
          <p:cNvPr id="47"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كيف ترتبط أجزاء النظام؟</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ARCHITECTURE &amp; DATA RELATIONSHIPS</a:t>
            </a:r>
            <a:endParaRPr lang="en-US" sz="800" dirty="0"/>
          </a:p>
        </p:txBody>
      </p:sp>
      <p:pic>
        <p:nvPicPr>
          <p:cNvPr id="4" name="Image 0" descr="/mnt/data/yusr-uml.png"/>
          <p:cNvPicPr>
            <a:picLocks noChangeAspect="1"/>
          </p:cNvPicPr>
          <p:nvPr/>
        </p:nvPicPr>
        <p:blipFill>
          <a:blip r:embed="rId3"/>
          <a:stretch>
            <a:fillRect/>
          </a:stretch>
        </p:blipFill>
        <p:spPr>
          <a:xfrm>
            <a:off x="502920" y="1417320"/>
            <a:ext cx="6903720" cy="4526280"/>
          </a:xfrm>
          <a:prstGeom prst="rect">
            <a:avLst/>
          </a:prstGeom>
        </p:spPr>
      </p:pic>
      <p:sp>
        <p:nvSpPr>
          <p:cNvPr id="5" name="Shape 2"/>
          <p:cNvSpPr/>
          <p:nvPr/>
        </p:nvSpPr>
        <p:spPr>
          <a:xfrm>
            <a:off x="7726680" y="1572768"/>
            <a:ext cx="3794760" cy="4160520"/>
          </a:xfrm>
          <a:prstGeom prst="roundRect">
            <a:avLst>
              <a:gd name="adj" fmla="val 1928"/>
            </a:avLst>
          </a:prstGeom>
          <a:solidFill>
            <a:srgbClr val="FFFFFF"/>
          </a:solidFill>
          <a:ln w="12700">
            <a:solidFill>
              <a:srgbClr val="D8E0DB"/>
            </a:solidFill>
            <a:prstDash val="solid"/>
          </a:ln>
        </p:spPr>
      </p:sp>
      <p:sp>
        <p:nvSpPr>
          <p:cNvPr id="6" name="Text 3"/>
          <p:cNvSpPr/>
          <p:nvPr/>
        </p:nvSpPr>
        <p:spPr>
          <a:xfrm>
            <a:off x="8046720" y="1874520"/>
            <a:ext cx="3154680" cy="292608"/>
          </a:xfrm>
          <a:prstGeom prst="rect">
            <a:avLst/>
          </a:prstGeom>
          <a:noFill/>
          <a:ln/>
        </p:spPr>
        <p:txBody>
          <a:bodyPr wrap="square" rtlCol="0" anchor="ctr"/>
          <a:lstStyle/>
          <a:p>
            <a:pPr marL="0" indent="0" algn="ctr">
              <a:buNone/>
            </a:pPr>
            <a:r>
              <a:rPr lang="en-US" sz="1500" b="1" dirty="0">
                <a:solidFill>
                  <a:srgbClr val="40584D"/>
                </a:solidFill>
              </a:rPr>
              <a:t>Layered Architecture</a:t>
            </a:r>
            <a:endParaRPr lang="en-US" sz="1500" dirty="0"/>
          </a:p>
        </p:txBody>
      </p:sp>
      <p:sp>
        <p:nvSpPr>
          <p:cNvPr id="7" name="Shape 4"/>
          <p:cNvSpPr/>
          <p:nvPr/>
        </p:nvSpPr>
        <p:spPr>
          <a:xfrm>
            <a:off x="8138160" y="2377440"/>
            <a:ext cx="2971800" cy="429768"/>
          </a:xfrm>
          <a:prstGeom prst="roundRect">
            <a:avLst>
              <a:gd name="adj" fmla="val 12766"/>
            </a:avLst>
          </a:prstGeom>
          <a:solidFill>
            <a:srgbClr val="E8EDE9"/>
          </a:solidFill>
          <a:ln w="12700">
            <a:solidFill>
              <a:srgbClr val="D8E0DB"/>
            </a:solidFill>
            <a:prstDash val="solid"/>
          </a:ln>
        </p:spPr>
      </p:sp>
      <p:sp>
        <p:nvSpPr>
          <p:cNvPr id="8" name="Text 5"/>
          <p:cNvSpPr/>
          <p:nvPr/>
        </p:nvSpPr>
        <p:spPr>
          <a:xfrm>
            <a:off x="8247888" y="2496312"/>
            <a:ext cx="2743200" cy="164592"/>
          </a:xfrm>
          <a:prstGeom prst="rect">
            <a:avLst/>
          </a:prstGeom>
          <a:noFill/>
          <a:ln/>
        </p:spPr>
        <p:txBody>
          <a:bodyPr wrap="square" rtlCol="0" anchor="ctr"/>
          <a:lstStyle/>
          <a:p>
            <a:pPr marL="0" indent="0" algn="ctr">
              <a:buNone/>
            </a:pPr>
            <a:r>
              <a:rPr lang="en-US" sz="760" dirty="0">
                <a:solidFill>
                  <a:srgbClr val="1F2D27"/>
                </a:solidFill>
              </a:rPr>
              <a:t>Frontend  —  HTML • CSS • JS • Thymeleaf</a:t>
            </a:r>
            <a:endParaRPr lang="en-US" sz="760" dirty="0"/>
          </a:p>
        </p:txBody>
      </p:sp>
      <p:sp>
        <p:nvSpPr>
          <p:cNvPr id="9" name="Shape 6"/>
          <p:cNvSpPr/>
          <p:nvPr/>
        </p:nvSpPr>
        <p:spPr>
          <a:xfrm>
            <a:off x="8138160" y="2971800"/>
            <a:ext cx="2971800" cy="429768"/>
          </a:xfrm>
          <a:prstGeom prst="roundRect">
            <a:avLst>
              <a:gd name="adj" fmla="val 12766"/>
            </a:avLst>
          </a:prstGeom>
          <a:solidFill>
            <a:srgbClr val="E8EDE9"/>
          </a:solidFill>
          <a:ln w="12700">
            <a:solidFill>
              <a:srgbClr val="D8E0DB"/>
            </a:solidFill>
            <a:prstDash val="solid"/>
          </a:ln>
        </p:spPr>
      </p:sp>
      <p:sp>
        <p:nvSpPr>
          <p:cNvPr id="10" name="Text 7"/>
          <p:cNvSpPr/>
          <p:nvPr/>
        </p:nvSpPr>
        <p:spPr>
          <a:xfrm>
            <a:off x="8247888" y="3090672"/>
            <a:ext cx="2743200" cy="164592"/>
          </a:xfrm>
          <a:prstGeom prst="rect">
            <a:avLst/>
          </a:prstGeom>
          <a:noFill/>
          <a:ln/>
        </p:spPr>
        <p:txBody>
          <a:bodyPr wrap="square" rtlCol="0" anchor="ctr"/>
          <a:lstStyle/>
          <a:p>
            <a:pPr marL="0" indent="0" algn="ctr">
              <a:buNone/>
            </a:pPr>
            <a:r>
              <a:rPr lang="en-US" sz="760" dirty="0">
                <a:solidFill>
                  <a:srgbClr val="1F2D27"/>
                </a:solidFill>
              </a:rPr>
              <a:t>Controller  —  REST API + HTTP responses</a:t>
            </a:r>
            <a:endParaRPr lang="en-US" sz="760" dirty="0"/>
          </a:p>
        </p:txBody>
      </p:sp>
      <p:sp>
        <p:nvSpPr>
          <p:cNvPr id="11" name="Shape 8"/>
          <p:cNvSpPr/>
          <p:nvPr/>
        </p:nvSpPr>
        <p:spPr>
          <a:xfrm>
            <a:off x="8138160" y="3566160"/>
            <a:ext cx="2971800" cy="429768"/>
          </a:xfrm>
          <a:prstGeom prst="roundRect">
            <a:avLst>
              <a:gd name="adj" fmla="val 12766"/>
            </a:avLst>
          </a:prstGeom>
          <a:solidFill>
            <a:srgbClr val="40584D"/>
          </a:solidFill>
          <a:ln w="12700">
            <a:solidFill>
              <a:srgbClr val="40584D"/>
            </a:solidFill>
            <a:prstDash val="solid"/>
          </a:ln>
        </p:spPr>
      </p:sp>
      <p:sp>
        <p:nvSpPr>
          <p:cNvPr id="12" name="Text 9"/>
          <p:cNvSpPr/>
          <p:nvPr/>
        </p:nvSpPr>
        <p:spPr>
          <a:xfrm>
            <a:off x="8247888" y="3685032"/>
            <a:ext cx="2743200" cy="164592"/>
          </a:xfrm>
          <a:prstGeom prst="rect">
            <a:avLst/>
          </a:prstGeom>
          <a:noFill/>
          <a:ln/>
        </p:spPr>
        <p:txBody>
          <a:bodyPr wrap="square" rtlCol="0" anchor="ctr"/>
          <a:lstStyle/>
          <a:p>
            <a:pPr marL="0" indent="0" algn="ctr">
              <a:buNone/>
            </a:pPr>
            <a:r>
              <a:rPr lang="en-US" sz="760" b="1" dirty="0">
                <a:solidFill>
                  <a:srgbClr val="FFFFFF"/>
                </a:solidFill>
              </a:rPr>
              <a:t>Service  —  Business Logic + Transactions</a:t>
            </a:r>
            <a:endParaRPr lang="en-US" sz="760" dirty="0"/>
          </a:p>
        </p:txBody>
      </p:sp>
      <p:sp>
        <p:nvSpPr>
          <p:cNvPr id="13" name="Shape 10"/>
          <p:cNvSpPr/>
          <p:nvPr/>
        </p:nvSpPr>
        <p:spPr>
          <a:xfrm>
            <a:off x="8138160" y="4160520"/>
            <a:ext cx="2971800" cy="429768"/>
          </a:xfrm>
          <a:prstGeom prst="roundRect">
            <a:avLst>
              <a:gd name="adj" fmla="val 12766"/>
            </a:avLst>
          </a:prstGeom>
          <a:solidFill>
            <a:srgbClr val="E8EDE9"/>
          </a:solidFill>
          <a:ln w="12700">
            <a:solidFill>
              <a:srgbClr val="D8E0DB"/>
            </a:solidFill>
            <a:prstDash val="solid"/>
          </a:ln>
        </p:spPr>
      </p:sp>
      <p:sp>
        <p:nvSpPr>
          <p:cNvPr id="14" name="Text 11"/>
          <p:cNvSpPr/>
          <p:nvPr/>
        </p:nvSpPr>
        <p:spPr>
          <a:xfrm>
            <a:off x="8247888" y="4279392"/>
            <a:ext cx="2743200" cy="164592"/>
          </a:xfrm>
          <a:prstGeom prst="rect">
            <a:avLst/>
          </a:prstGeom>
          <a:noFill/>
          <a:ln/>
        </p:spPr>
        <p:txBody>
          <a:bodyPr wrap="square" rtlCol="0" anchor="ctr"/>
          <a:lstStyle/>
          <a:p>
            <a:pPr marL="0" indent="0" algn="ctr">
              <a:buNone/>
            </a:pPr>
            <a:r>
              <a:rPr lang="en-US" sz="760" dirty="0">
                <a:solidFill>
                  <a:srgbClr val="1F2D27"/>
                </a:solidFill>
              </a:rPr>
              <a:t>Repository  —  Spring Data JPA</a:t>
            </a:r>
            <a:endParaRPr lang="en-US" sz="760" dirty="0"/>
          </a:p>
        </p:txBody>
      </p:sp>
      <p:sp>
        <p:nvSpPr>
          <p:cNvPr id="15" name="Shape 12"/>
          <p:cNvSpPr/>
          <p:nvPr/>
        </p:nvSpPr>
        <p:spPr>
          <a:xfrm>
            <a:off x="8138160" y="4754880"/>
            <a:ext cx="2971800" cy="429768"/>
          </a:xfrm>
          <a:prstGeom prst="roundRect">
            <a:avLst>
              <a:gd name="adj" fmla="val 12766"/>
            </a:avLst>
          </a:prstGeom>
          <a:solidFill>
            <a:srgbClr val="E8EDE9"/>
          </a:solidFill>
          <a:ln w="12700">
            <a:solidFill>
              <a:srgbClr val="D8E0DB"/>
            </a:solidFill>
            <a:prstDash val="solid"/>
          </a:ln>
        </p:spPr>
      </p:sp>
      <p:sp>
        <p:nvSpPr>
          <p:cNvPr id="16" name="Text 13"/>
          <p:cNvSpPr/>
          <p:nvPr/>
        </p:nvSpPr>
        <p:spPr>
          <a:xfrm>
            <a:off x="8247888" y="4873752"/>
            <a:ext cx="2743200" cy="164592"/>
          </a:xfrm>
          <a:prstGeom prst="rect">
            <a:avLst/>
          </a:prstGeom>
          <a:noFill/>
          <a:ln/>
        </p:spPr>
        <p:txBody>
          <a:bodyPr wrap="square" rtlCol="0" anchor="ctr"/>
          <a:lstStyle/>
          <a:p>
            <a:pPr marL="0" indent="0" algn="ctr">
              <a:buNone/>
            </a:pPr>
            <a:r>
              <a:rPr lang="en-US" sz="760" dirty="0">
                <a:solidFill>
                  <a:srgbClr val="1F2D27"/>
                </a:solidFill>
              </a:rPr>
              <a:t>Database  —  MySQL</a:t>
            </a:r>
            <a:endParaRPr lang="en-US" sz="760" dirty="0"/>
          </a:p>
        </p:txBody>
      </p:sp>
      <p:sp>
        <p:nvSpPr>
          <p:cNvPr id="17" name="Text 14"/>
          <p:cNvSpPr/>
          <p:nvPr/>
        </p:nvSpPr>
        <p:spPr>
          <a:xfrm>
            <a:off x="8046720" y="5468112"/>
            <a:ext cx="3154680" cy="384048"/>
          </a:xfrm>
          <a:prstGeom prst="rect">
            <a:avLst/>
          </a:prstGeom>
          <a:noFill/>
          <a:ln/>
        </p:spPr>
        <p:txBody>
          <a:bodyPr wrap="square" rtlCol="0" anchor="ctr"/>
          <a:lstStyle/>
          <a:p>
            <a:pPr marL="0" indent="0" algn="ctr" rtl="1">
              <a:buNone/>
            </a:pPr>
            <a:r>
              <a:rPr lang="en-US" sz="900" dirty="0">
                <a:solidFill>
                  <a:srgbClr val="82998A"/>
                </a:solidFill>
              </a:rPr>
              <a:t>العلاقات منطقية باستخدام IDs مثل patientId و caregiverId بدل JPA Entity Relations.</a:t>
            </a:r>
            <a:endParaRPr lang="en-US" sz="900" dirty="0"/>
          </a:p>
        </p:txBody>
      </p:sp>
      <p:sp>
        <p:nvSpPr>
          <p:cNvPr id="25"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713232"/>
            <a:ext cx="10881360" cy="457200"/>
          </a:xfrm>
          <a:prstGeom prst="rect">
            <a:avLst/>
          </a:prstGeom>
          <a:noFill/>
          <a:ln/>
        </p:spPr>
        <p:txBody>
          <a:bodyPr wrap="square" rtlCol="0" anchor="ctr"/>
          <a:lstStyle/>
          <a:p>
            <a:pPr marL="0" indent="0" algn="r" rtl="1">
              <a:buNone/>
            </a:pPr>
            <a:r>
              <a:rPr lang="en-US" sz="2500" b="1" dirty="0">
                <a:solidFill>
                  <a:srgbClr val="1F2D27"/>
                </a:solidFill>
              </a:rPr>
              <a:t>الآن خلونا نشوف يسر فعليًا</a:t>
            </a:r>
            <a:endParaRPr lang="en-US" sz="2500" dirty="0"/>
          </a:p>
        </p:txBody>
      </p:sp>
      <p:sp>
        <p:nvSpPr>
          <p:cNvPr id="3" name="Text 1"/>
          <p:cNvSpPr/>
          <p:nvPr/>
        </p:nvSpPr>
        <p:spPr>
          <a:xfrm>
            <a:off x="640080" y="1179576"/>
            <a:ext cx="10881360" cy="201168"/>
          </a:xfrm>
          <a:prstGeom prst="rect">
            <a:avLst/>
          </a:prstGeom>
          <a:noFill/>
          <a:ln/>
        </p:spPr>
        <p:txBody>
          <a:bodyPr wrap="square" rtlCol="0" anchor="ctr"/>
          <a:lstStyle/>
          <a:p>
            <a:pPr marL="0" indent="0" algn="r">
              <a:buNone/>
            </a:pPr>
            <a:r>
              <a:rPr lang="en-US" sz="800" b="1" kern="0" spc="180" dirty="0">
                <a:solidFill>
                  <a:srgbClr val="82998A"/>
                </a:solidFill>
              </a:rPr>
              <a:t>LIVE DEMO</a:t>
            </a:r>
            <a:endParaRPr lang="en-US" sz="800" dirty="0"/>
          </a:p>
        </p:txBody>
      </p:sp>
      <p:sp>
        <p:nvSpPr>
          <p:cNvPr id="4" name="Text 2"/>
          <p:cNvSpPr/>
          <p:nvPr/>
        </p:nvSpPr>
        <p:spPr>
          <a:xfrm>
            <a:off x="822960" y="1417320"/>
            <a:ext cx="10607040" cy="365760"/>
          </a:xfrm>
          <a:prstGeom prst="rect">
            <a:avLst/>
          </a:prstGeom>
          <a:noFill/>
          <a:ln/>
        </p:spPr>
        <p:txBody>
          <a:bodyPr wrap="square" rtlCol="0" anchor="ctr"/>
          <a:lstStyle/>
          <a:p>
            <a:pPr marL="0" indent="0" algn="ctr" rtl="1">
              <a:buNone/>
            </a:pPr>
            <a:r>
              <a:rPr lang="en-US" sz="1400" b="1" dirty="0">
                <a:solidFill>
                  <a:srgbClr val="40584D"/>
                </a:solidFill>
              </a:rPr>
              <a:t>بدل ما أعرض كل صفحة، بعرض رحلة قصيرة تثبت أهم الـBusiness Logic.</a:t>
            </a:r>
            <a:endParaRPr lang="en-US" sz="1400" dirty="0"/>
          </a:p>
        </p:txBody>
      </p:sp>
      <p:sp>
        <p:nvSpPr>
          <p:cNvPr id="5" name="Shape 3"/>
          <p:cNvSpPr/>
          <p:nvPr/>
        </p:nvSpPr>
        <p:spPr>
          <a:xfrm>
            <a:off x="502920" y="2194560"/>
            <a:ext cx="1965960" cy="2057400"/>
          </a:xfrm>
          <a:prstGeom prst="roundRect">
            <a:avLst>
              <a:gd name="adj" fmla="val 3721"/>
            </a:avLst>
          </a:prstGeom>
          <a:solidFill>
            <a:srgbClr val="FFFFFF"/>
          </a:solidFill>
          <a:ln w="12700">
            <a:solidFill>
              <a:srgbClr val="D5DED8"/>
            </a:solidFill>
            <a:prstDash val="solid"/>
          </a:ln>
        </p:spPr>
      </p:sp>
      <p:sp>
        <p:nvSpPr>
          <p:cNvPr id="6" name="Text 4"/>
          <p:cNvSpPr/>
          <p:nvPr/>
        </p:nvSpPr>
        <p:spPr>
          <a:xfrm>
            <a:off x="667512" y="2395728"/>
            <a:ext cx="457200" cy="320040"/>
          </a:xfrm>
          <a:prstGeom prst="rect">
            <a:avLst/>
          </a:prstGeom>
          <a:noFill/>
          <a:ln/>
        </p:spPr>
        <p:txBody>
          <a:bodyPr wrap="square" rtlCol="0" anchor="ctr"/>
          <a:lstStyle/>
          <a:p>
            <a:pPr marL="0" indent="0">
              <a:buNone/>
            </a:pPr>
            <a:r>
              <a:rPr lang="en-US" sz="1800" b="1" dirty="0">
                <a:solidFill>
                  <a:srgbClr val="82998A"/>
                </a:solidFill>
              </a:rPr>
              <a:t>01</a:t>
            </a:r>
            <a:endParaRPr lang="en-US" sz="1800" dirty="0"/>
          </a:p>
        </p:txBody>
      </p:sp>
      <p:sp>
        <p:nvSpPr>
          <p:cNvPr id="7" name="Text 5"/>
          <p:cNvSpPr/>
          <p:nvPr/>
        </p:nvSpPr>
        <p:spPr>
          <a:xfrm>
            <a:off x="667512" y="2926080"/>
            <a:ext cx="1627632" cy="274320"/>
          </a:xfrm>
          <a:prstGeom prst="rect">
            <a:avLst/>
          </a:prstGeom>
          <a:noFill/>
          <a:ln/>
        </p:spPr>
        <p:txBody>
          <a:bodyPr wrap="square" rtlCol="0" anchor="ctr"/>
          <a:lstStyle/>
          <a:p>
            <a:pPr marL="0" indent="0" algn="ctr">
              <a:buNone/>
            </a:pPr>
            <a:r>
              <a:rPr lang="en-US" sz="1300" b="1" dirty="0">
                <a:solidFill>
                  <a:srgbClr val="1F2D27"/>
                </a:solidFill>
              </a:rPr>
              <a:t>Dashboard</a:t>
            </a:r>
            <a:endParaRPr lang="en-US" sz="1300" dirty="0"/>
          </a:p>
        </p:txBody>
      </p:sp>
      <p:sp>
        <p:nvSpPr>
          <p:cNvPr id="8" name="Text 6"/>
          <p:cNvSpPr/>
          <p:nvPr/>
        </p:nvSpPr>
        <p:spPr>
          <a:xfrm>
            <a:off x="685800" y="3401568"/>
            <a:ext cx="1600200" cy="502920"/>
          </a:xfrm>
          <a:prstGeom prst="rect">
            <a:avLst/>
          </a:prstGeom>
          <a:noFill/>
          <a:ln/>
        </p:spPr>
        <p:txBody>
          <a:bodyPr wrap="square" rtlCol="0" anchor="ctr"/>
          <a:lstStyle/>
          <a:p>
            <a:pPr marL="0" indent="0" algn="ctr" rtl="1">
              <a:buNone/>
            </a:pPr>
            <a:r>
              <a:rPr lang="en-US" sz="900" dirty="0">
                <a:solidFill>
                  <a:srgbClr val="5C6B63"/>
                </a:solidFill>
              </a:rPr>
              <a:t>المريض + المسؤول الحالي</a:t>
            </a:r>
            <a:endParaRPr lang="en-US" sz="900" dirty="0"/>
          </a:p>
        </p:txBody>
      </p:sp>
      <p:sp>
        <p:nvSpPr>
          <p:cNvPr id="9" name="Shape 7"/>
          <p:cNvSpPr/>
          <p:nvPr/>
        </p:nvSpPr>
        <p:spPr>
          <a:xfrm>
            <a:off x="2478024" y="3063240"/>
            <a:ext cx="274320" cy="310896"/>
          </a:xfrm>
          <a:prstGeom prst="chevron">
            <a:avLst/>
          </a:prstGeom>
          <a:solidFill>
            <a:srgbClr val="D3B29D"/>
          </a:solidFill>
          <a:ln w="12700">
            <a:solidFill>
              <a:srgbClr val="D3B29D"/>
            </a:solidFill>
            <a:prstDash val="solid"/>
          </a:ln>
        </p:spPr>
      </p:sp>
      <p:sp>
        <p:nvSpPr>
          <p:cNvPr id="10" name="Shape 8"/>
          <p:cNvSpPr/>
          <p:nvPr/>
        </p:nvSpPr>
        <p:spPr>
          <a:xfrm>
            <a:off x="2834640" y="2194560"/>
            <a:ext cx="1965960" cy="2057400"/>
          </a:xfrm>
          <a:prstGeom prst="roundRect">
            <a:avLst>
              <a:gd name="adj" fmla="val 3721"/>
            </a:avLst>
          </a:prstGeom>
          <a:solidFill>
            <a:srgbClr val="FFFFFF"/>
          </a:solidFill>
          <a:ln w="12700">
            <a:solidFill>
              <a:srgbClr val="D5DED8"/>
            </a:solidFill>
            <a:prstDash val="solid"/>
          </a:ln>
        </p:spPr>
      </p:sp>
      <p:sp>
        <p:nvSpPr>
          <p:cNvPr id="11" name="Text 9"/>
          <p:cNvSpPr/>
          <p:nvPr/>
        </p:nvSpPr>
        <p:spPr>
          <a:xfrm>
            <a:off x="2999232" y="2395728"/>
            <a:ext cx="457200" cy="320040"/>
          </a:xfrm>
          <a:prstGeom prst="rect">
            <a:avLst/>
          </a:prstGeom>
          <a:noFill/>
          <a:ln/>
        </p:spPr>
        <p:txBody>
          <a:bodyPr wrap="square" rtlCol="0" anchor="ctr"/>
          <a:lstStyle/>
          <a:p>
            <a:pPr marL="0" indent="0">
              <a:buNone/>
            </a:pPr>
            <a:r>
              <a:rPr lang="en-US" sz="1800" b="1" dirty="0">
                <a:solidFill>
                  <a:srgbClr val="82998A"/>
                </a:solidFill>
              </a:rPr>
              <a:t>02</a:t>
            </a:r>
            <a:endParaRPr lang="en-US" sz="1800" dirty="0"/>
          </a:p>
        </p:txBody>
      </p:sp>
      <p:sp>
        <p:nvSpPr>
          <p:cNvPr id="12" name="Text 10"/>
          <p:cNvSpPr/>
          <p:nvPr/>
        </p:nvSpPr>
        <p:spPr>
          <a:xfrm>
            <a:off x="2999232" y="2926080"/>
            <a:ext cx="1627632" cy="274320"/>
          </a:xfrm>
          <a:prstGeom prst="rect">
            <a:avLst/>
          </a:prstGeom>
          <a:noFill/>
          <a:ln/>
        </p:spPr>
        <p:txBody>
          <a:bodyPr wrap="square" rtlCol="0" anchor="ctr"/>
          <a:lstStyle/>
          <a:p>
            <a:pPr marL="0" indent="0" algn="ctr">
              <a:buNone/>
            </a:pPr>
            <a:r>
              <a:rPr lang="en-US" sz="1300" b="1" dirty="0">
                <a:solidFill>
                  <a:srgbClr val="1F2D27"/>
                </a:solidFill>
              </a:rPr>
              <a:t>Medication</a:t>
            </a:r>
            <a:endParaRPr lang="en-US" sz="1300" dirty="0"/>
          </a:p>
        </p:txBody>
      </p:sp>
      <p:sp>
        <p:nvSpPr>
          <p:cNvPr id="13" name="Text 11"/>
          <p:cNvSpPr/>
          <p:nvPr/>
        </p:nvSpPr>
        <p:spPr>
          <a:xfrm>
            <a:off x="3017520" y="3401568"/>
            <a:ext cx="1600200" cy="502920"/>
          </a:xfrm>
          <a:prstGeom prst="rect">
            <a:avLst/>
          </a:prstGeom>
          <a:noFill/>
          <a:ln/>
        </p:spPr>
        <p:txBody>
          <a:bodyPr wrap="square" rtlCol="0" anchor="ctr"/>
          <a:lstStyle/>
          <a:p>
            <a:pPr marL="0" indent="0" algn="ctr" rtl="1">
              <a:buNone/>
            </a:pPr>
            <a:r>
              <a:rPr lang="en-US" sz="900" dirty="0">
                <a:solidFill>
                  <a:srgbClr val="5C6B63"/>
                </a:solidFill>
              </a:rPr>
              <a:t>جرعة → Stock → Alert</a:t>
            </a:r>
            <a:endParaRPr lang="en-US" sz="900" dirty="0"/>
          </a:p>
        </p:txBody>
      </p:sp>
      <p:sp>
        <p:nvSpPr>
          <p:cNvPr id="14" name="Shape 12"/>
          <p:cNvSpPr/>
          <p:nvPr/>
        </p:nvSpPr>
        <p:spPr>
          <a:xfrm>
            <a:off x="4809744" y="3063240"/>
            <a:ext cx="274320" cy="310896"/>
          </a:xfrm>
          <a:prstGeom prst="chevron">
            <a:avLst/>
          </a:prstGeom>
          <a:solidFill>
            <a:srgbClr val="D3B29D"/>
          </a:solidFill>
          <a:ln w="12700">
            <a:solidFill>
              <a:srgbClr val="D3B29D"/>
            </a:solidFill>
            <a:prstDash val="solid"/>
          </a:ln>
        </p:spPr>
      </p:sp>
      <p:sp>
        <p:nvSpPr>
          <p:cNvPr id="15" name="Shape 13"/>
          <p:cNvSpPr/>
          <p:nvPr/>
        </p:nvSpPr>
        <p:spPr>
          <a:xfrm>
            <a:off x="5166360" y="2194560"/>
            <a:ext cx="1965960" cy="2057400"/>
          </a:xfrm>
          <a:prstGeom prst="roundRect">
            <a:avLst>
              <a:gd name="adj" fmla="val 3721"/>
            </a:avLst>
          </a:prstGeom>
          <a:solidFill>
            <a:srgbClr val="FFFFFF"/>
          </a:solidFill>
          <a:ln w="12700">
            <a:solidFill>
              <a:srgbClr val="D5DED8"/>
            </a:solidFill>
            <a:prstDash val="solid"/>
          </a:ln>
        </p:spPr>
      </p:sp>
      <p:sp>
        <p:nvSpPr>
          <p:cNvPr id="16" name="Text 14"/>
          <p:cNvSpPr/>
          <p:nvPr/>
        </p:nvSpPr>
        <p:spPr>
          <a:xfrm>
            <a:off x="5330952" y="2395728"/>
            <a:ext cx="457200" cy="320040"/>
          </a:xfrm>
          <a:prstGeom prst="rect">
            <a:avLst/>
          </a:prstGeom>
          <a:noFill/>
          <a:ln/>
        </p:spPr>
        <p:txBody>
          <a:bodyPr wrap="square" rtlCol="0" anchor="ctr"/>
          <a:lstStyle/>
          <a:p>
            <a:pPr marL="0" indent="0">
              <a:buNone/>
            </a:pPr>
            <a:r>
              <a:rPr lang="en-US" sz="1800" b="1" dirty="0">
                <a:solidFill>
                  <a:srgbClr val="82998A"/>
                </a:solidFill>
              </a:rPr>
              <a:t>03</a:t>
            </a:r>
            <a:endParaRPr lang="en-US" sz="1800" dirty="0"/>
          </a:p>
        </p:txBody>
      </p:sp>
      <p:sp>
        <p:nvSpPr>
          <p:cNvPr id="17" name="Text 15"/>
          <p:cNvSpPr/>
          <p:nvPr/>
        </p:nvSpPr>
        <p:spPr>
          <a:xfrm>
            <a:off x="5330952" y="2926080"/>
            <a:ext cx="1627632" cy="274320"/>
          </a:xfrm>
          <a:prstGeom prst="rect">
            <a:avLst/>
          </a:prstGeom>
          <a:noFill/>
          <a:ln/>
        </p:spPr>
        <p:txBody>
          <a:bodyPr wrap="square" rtlCol="0" anchor="ctr"/>
          <a:lstStyle/>
          <a:p>
            <a:pPr marL="0" indent="0" algn="ctr">
              <a:buNone/>
            </a:pPr>
            <a:r>
              <a:rPr lang="en-US" sz="1300" b="1" dirty="0">
                <a:solidFill>
                  <a:srgbClr val="1F2D27"/>
                </a:solidFill>
              </a:rPr>
              <a:t>Health / Incident</a:t>
            </a:r>
            <a:endParaRPr lang="en-US" sz="1300" dirty="0"/>
          </a:p>
        </p:txBody>
      </p:sp>
      <p:sp>
        <p:nvSpPr>
          <p:cNvPr id="18" name="Text 16"/>
          <p:cNvSpPr/>
          <p:nvPr/>
        </p:nvSpPr>
        <p:spPr>
          <a:xfrm>
            <a:off x="5349240" y="3401568"/>
            <a:ext cx="1600200" cy="502920"/>
          </a:xfrm>
          <a:prstGeom prst="rect">
            <a:avLst/>
          </a:prstGeom>
          <a:noFill/>
          <a:ln/>
        </p:spPr>
        <p:txBody>
          <a:bodyPr wrap="square" rtlCol="0" anchor="ctr"/>
          <a:lstStyle/>
          <a:p>
            <a:pPr marL="0" indent="0" algn="ctr" rtl="1">
              <a:buNone/>
            </a:pPr>
            <a:r>
              <a:rPr lang="en-US" sz="900" dirty="0">
                <a:solidFill>
                  <a:srgbClr val="5C6B63"/>
                </a:solidFill>
              </a:rPr>
              <a:t>قراءة + Incident lifecycle</a:t>
            </a:r>
            <a:endParaRPr lang="en-US" sz="900" dirty="0"/>
          </a:p>
        </p:txBody>
      </p:sp>
      <p:sp>
        <p:nvSpPr>
          <p:cNvPr id="19" name="Shape 17"/>
          <p:cNvSpPr/>
          <p:nvPr/>
        </p:nvSpPr>
        <p:spPr>
          <a:xfrm>
            <a:off x="7141464" y="3063240"/>
            <a:ext cx="274320" cy="310896"/>
          </a:xfrm>
          <a:prstGeom prst="chevron">
            <a:avLst/>
          </a:prstGeom>
          <a:solidFill>
            <a:srgbClr val="D3B29D"/>
          </a:solidFill>
          <a:ln w="12700">
            <a:solidFill>
              <a:srgbClr val="D3B29D"/>
            </a:solidFill>
            <a:prstDash val="solid"/>
          </a:ln>
        </p:spPr>
      </p:sp>
      <p:sp>
        <p:nvSpPr>
          <p:cNvPr id="20" name="Shape 18"/>
          <p:cNvSpPr/>
          <p:nvPr/>
        </p:nvSpPr>
        <p:spPr>
          <a:xfrm>
            <a:off x="7498080" y="2194560"/>
            <a:ext cx="1965960" cy="2057400"/>
          </a:xfrm>
          <a:prstGeom prst="roundRect">
            <a:avLst>
              <a:gd name="adj" fmla="val 3721"/>
            </a:avLst>
          </a:prstGeom>
          <a:solidFill>
            <a:srgbClr val="FFFFFF"/>
          </a:solidFill>
          <a:ln w="12700">
            <a:solidFill>
              <a:srgbClr val="D5DED8"/>
            </a:solidFill>
            <a:prstDash val="solid"/>
          </a:ln>
        </p:spPr>
      </p:sp>
      <p:sp>
        <p:nvSpPr>
          <p:cNvPr id="21" name="Text 19"/>
          <p:cNvSpPr/>
          <p:nvPr/>
        </p:nvSpPr>
        <p:spPr>
          <a:xfrm>
            <a:off x="7662672" y="2395728"/>
            <a:ext cx="457200" cy="320040"/>
          </a:xfrm>
          <a:prstGeom prst="rect">
            <a:avLst/>
          </a:prstGeom>
          <a:noFill/>
          <a:ln/>
        </p:spPr>
        <p:txBody>
          <a:bodyPr wrap="square" rtlCol="0" anchor="ctr"/>
          <a:lstStyle/>
          <a:p>
            <a:pPr marL="0" indent="0">
              <a:buNone/>
            </a:pPr>
            <a:r>
              <a:rPr lang="en-US" sz="1800" b="1" dirty="0">
                <a:solidFill>
                  <a:srgbClr val="82998A"/>
                </a:solidFill>
              </a:rPr>
              <a:t>04</a:t>
            </a:r>
            <a:endParaRPr lang="en-US" sz="1800" dirty="0"/>
          </a:p>
        </p:txBody>
      </p:sp>
      <p:sp>
        <p:nvSpPr>
          <p:cNvPr id="22" name="Text 20"/>
          <p:cNvSpPr/>
          <p:nvPr/>
        </p:nvSpPr>
        <p:spPr>
          <a:xfrm>
            <a:off x="7662672" y="2926080"/>
            <a:ext cx="1627632" cy="274320"/>
          </a:xfrm>
          <a:prstGeom prst="rect">
            <a:avLst/>
          </a:prstGeom>
          <a:noFill/>
          <a:ln/>
        </p:spPr>
        <p:txBody>
          <a:bodyPr wrap="square" rtlCol="0" anchor="ctr"/>
          <a:lstStyle/>
          <a:p>
            <a:pPr marL="0" indent="0" algn="ctr">
              <a:buNone/>
            </a:pPr>
            <a:r>
              <a:rPr lang="en-US" sz="1300" b="1" dirty="0">
                <a:solidFill>
                  <a:srgbClr val="1F2D27"/>
                </a:solidFill>
              </a:rPr>
              <a:t>Care Team</a:t>
            </a:r>
            <a:endParaRPr lang="en-US" sz="1300" dirty="0"/>
          </a:p>
        </p:txBody>
      </p:sp>
      <p:sp>
        <p:nvSpPr>
          <p:cNvPr id="23" name="Text 21"/>
          <p:cNvSpPr/>
          <p:nvPr/>
        </p:nvSpPr>
        <p:spPr>
          <a:xfrm>
            <a:off x="7680960" y="3401568"/>
            <a:ext cx="1600200" cy="502920"/>
          </a:xfrm>
          <a:prstGeom prst="rect">
            <a:avLst/>
          </a:prstGeom>
          <a:noFill/>
          <a:ln/>
        </p:spPr>
        <p:txBody>
          <a:bodyPr wrap="square" rtlCol="0" anchor="ctr"/>
          <a:lstStyle/>
          <a:p>
            <a:pPr marL="0" indent="0" algn="ctr" rtl="1">
              <a:buNone/>
            </a:pPr>
            <a:r>
              <a:rPr lang="en-US" sz="900" dirty="0">
                <a:solidFill>
                  <a:srgbClr val="5C6B63"/>
                </a:solidFill>
              </a:rPr>
              <a:t>Handover → نقل المسؤولية والمهام</a:t>
            </a:r>
            <a:endParaRPr lang="en-US" sz="900" dirty="0"/>
          </a:p>
        </p:txBody>
      </p:sp>
      <p:sp>
        <p:nvSpPr>
          <p:cNvPr id="24" name="Shape 22"/>
          <p:cNvSpPr/>
          <p:nvPr/>
        </p:nvSpPr>
        <p:spPr>
          <a:xfrm>
            <a:off x="9473184" y="3063240"/>
            <a:ext cx="274320" cy="310896"/>
          </a:xfrm>
          <a:prstGeom prst="chevron">
            <a:avLst/>
          </a:prstGeom>
          <a:solidFill>
            <a:srgbClr val="D3B29D"/>
          </a:solidFill>
          <a:ln w="12700">
            <a:solidFill>
              <a:srgbClr val="D3B29D"/>
            </a:solidFill>
            <a:prstDash val="solid"/>
          </a:ln>
        </p:spPr>
      </p:sp>
      <p:sp>
        <p:nvSpPr>
          <p:cNvPr id="25" name="Shape 23"/>
          <p:cNvSpPr/>
          <p:nvPr/>
        </p:nvSpPr>
        <p:spPr>
          <a:xfrm>
            <a:off x="9829800" y="2194560"/>
            <a:ext cx="1965960" cy="2057400"/>
          </a:xfrm>
          <a:prstGeom prst="roundRect">
            <a:avLst>
              <a:gd name="adj" fmla="val 3721"/>
            </a:avLst>
          </a:prstGeom>
          <a:solidFill>
            <a:srgbClr val="40584D"/>
          </a:solidFill>
          <a:ln w="12700">
            <a:solidFill>
              <a:srgbClr val="40584D"/>
            </a:solidFill>
            <a:prstDash val="solid"/>
          </a:ln>
        </p:spPr>
      </p:sp>
      <p:sp>
        <p:nvSpPr>
          <p:cNvPr id="26" name="Text 24"/>
          <p:cNvSpPr/>
          <p:nvPr/>
        </p:nvSpPr>
        <p:spPr>
          <a:xfrm>
            <a:off x="9994392" y="2395728"/>
            <a:ext cx="457200" cy="320040"/>
          </a:xfrm>
          <a:prstGeom prst="rect">
            <a:avLst/>
          </a:prstGeom>
          <a:noFill/>
          <a:ln/>
        </p:spPr>
        <p:txBody>
          <a:bodyPr wrap="square" rtlCol="0" anchor="ctr"/>
          <a:lstStyle/>
          <a:p>
            <a:pPr marL="0" indent="0">
              <a:buNone/>
            </a:pPr>
            <a:r>
              <a:rPr lang="en-US" sz="1800" b="1" dirty="0">
                <a:solidFill>
                  <a:srgbClr val="D3B29D"/>
                </a:solidFill>
              </a:rPr>
              <a:t>05</a:t>
            </a:r>
            <a:endParaRPr lang="en-US" sz="1800" dirty="0"/>
          </a:p>
        </p:txBody>
      </p:sp>
      <p:sp>
        <p:nvSpPr>
          <p:cNvPr id="27" name="Text 25"/>
          <p:cNvSpPr/>
          <p:nvPr/>
        </p:nvSpPr>
        <p:spPr>
          <a:xfrm>
            <a:off x="9994392" y="2926080"/>
            <a:ext cx="1627632" cy="274320"/>
          </a:xfrm>
          <a:prstGeom prst="rect">
            <a:avLst/>
          </a:prstGeom>
          <a:noFill/>
          <a:ln/>
        </p:spPr>
        <p:txBody>
          <a:bodyPr wrap="square" rtlCol="0" anchor="ctr"/>
          <a:lstStyle/>
          <a:p>
            <a:pPr marL="0" indent="0" algn="ctr">
              <a:buNone/>
            </a:pPr>
            <a:r>
              <a:rPr lang="en-US" sz="1300" b="1" dirty="0">
                <a:solidFill>
                  <a:srgbClr val="FFFFFF"/>
                </a:solidFill>
              </a:rPr>
              <a:t>Smart Summary</a:t>
            </a:r>
            <a:endParaRPr lang="en-US" sz="1300" dirty="0"/>
          </a:p>
        </p:txBody>
      </p:sp>
      <p:sp>
        <p:nvSpPr>
          <p:cNvPr id="28" name="Text 26"/>
          <p:cNvSpPr/>
          <p:nvPr/>
        </p:nvSpPr>
        <p:spPr>
          <a:xfrm>
            <a:off x="10012680" y="3401568"/>
            <a:ext cx="1600200" cy="502920"/>
          </a:xfrm>
          <a:prstGeom prst="rect">
            <a:avLst/>
          </a:prstGeom>
          <a:noFill/>
          <a:ln/>
        </p:spPr>
        <p:txBody>
          <a:bodyPr wrap="square" rtlCol="0" anchor="ctr"/>
          <a:lstStyle/>
          <a:p>
            <a:pPr marL="0" indent="0" algn="ctr" rtl="1">
              <a:buNone/>
            </a:pPr>
            <a:r>
              <a:rPr lang="en-US" sz="900" dirty="0">
                <a:solidFill>
                  <a:srgbClr val="E8EDE9"/>
                </a:solidFill>
              </a:rPr>
              <a:t>AI → حفظ → Email</a:t>
            </a:r>
            <a:endParaRPr lang="en-US" sz="900" dirty="0"/>
          </a:p>
        </p:txBody>
      </p:sp>
      <p:sp>
        <p:nvSpPr>
          <p:cNvPr id="29" name="Shape 27"/>
          <p:cNvSpPr/>
          <p:nvPr/>
        </p:nvSpPr>
        <p:spPr>
          <a:xfrm>
            <a:off x="2148840" y="4892040"/>
            <a:ext cx="7909560" cy="822960"/>
          </a:xfrm>
          <a:prstGeom prst="roundRect">
            <a:avLst>
              <a:gd name="adj" fmla="val 8889"/>
            </a:avLst>
          </a:prstGeom>
          <a:solidFill>
            <a:srgbClr val="E8EDE9"/>
          </a:solidFill>
          <a:ln w="12700">
            <a:solidFill>
              <a:srgbClr val="D8E0DB"/>
            </a:solidFill>
            <a:prstDash val="solid"/>
          </a:ln>
        </p:spPr>
      </p:sp>
      <p:sp>
        <p:nvSpPr>
          <p:cNvPr id="30" name="Text 28"/>
          <p:cNvSpPr/>
          <p:nvPr/>
        </p:nvSpPr>
        <p:spPr>
          <a:xfrm>
            <a:off x="2423160" y="5157216"/>
            <a:ext cx="7360920" cy="228600"/>
          </a:xfrm>
          <a:prstGeom prst="rect">
            <a:avLst/>
          </a:prstGeom>
          <a:noFill/>
          <a:ln/>
        </p:spPr>
        <p:txBody>
          <a:bodyPr wrap="square" rtlCol="0" anchor="ctr"/>
          <a:lstStyle/>
          <a:p>
            <a:pPr marL="0" indent="0" algn="ctr" rtl="1">
              <a:buNone/>
            </a:pPr>
            <a:r>
              <a:rPr lang="en-US" sz="1200" b="1" dirty="0">
                <a:solidFill>
                  <a:srgbClr val="40584D"/>
                </a:solidFill>
              </a:rPr>
              <a:t>الهدف من الـDemo: إثبات الترابط بين الواجهة والـBusiness Logic — مو استعراض كل CRUD.</a:t>
            </a:r>
            <a:endParaRPr lang="en-US" sz="1200" dirty="0"/>
          </a:p>
        </p:txBody>
      </p:sp>
      <p:sp>
        <p:nvSpPr>
          <p:cNvPr id="31" name="Slide Number Placeholder 0"/>
          <p:cNvSpPr>
            <a:spLocks noGrp="1"/>
          </p:cNvSpPr>
          <p:nvPr>
            <p:ph type="sldNum" sz="quarter" idx="4294967295"/>
          </p:nvPr>
        </p:nvSpPr>
        <p:spPr>
          <a:xfrm>
            <a:off x="41148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98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0584D"/>
        </a:solidFill>
        <a:effectLst/>
      </p:bgPr>
    </p:bg>
    <p:spTree>
      <p:nvGrpSpPr>
        <p:cNvPr id="1" name=""/>
        <p:cNvGrpSpPr/>
        <p:nvPr/>
      </p:nvGrpSpPr>
      <p:grpSpPr>
        <a:xfrm>
          <a:off x="0" y="0"/>
          <a:ext cx="0" cy="0"/>
          <a:chOff x="0" y="0"/>
          <a:chExt cx="0" cy="0"/>
        </a:xfrm>
      </p:grpSpPr>
      <p:pic>
        <p:nvPicPr>
          <p:cNvPr id="2" name="Image 0" descr="/mnt/data/yusr-logo.png"/>
          <p:cNvPicPr>
            <a:picLocks noChangeAspect="1"/>
          </p:cNvPicPr>
          <p:nvPr/>
        </p:nvPicPr>
        <p:blipFill>
          <a:blip r:embed="rId3"/>
          <a:stretch>
            <a:fillRect/>
          </a:stretch>
        </p:blipFill>
        <p:spPr>
          <a:xfrm>
            <a:off x="5230368" y="1143000"/>
            <a:ext cx="1737360" cy="1737360"/>
          </a:xfrm>
          <a:prstGeom prst="rect">
            <a:avLst/>
          </a:prstGeom>
        </p:spPr>
      </p:pic>
      <p:sp>
        <p:nvSpPr>
          <p:cNvPr id="3" name="Text 0"/>
          <p:cNvSpPr/>
          <p:nvPr/>
        </p:nvSpPr>
        <p:spPr>
          <a:xfrm>
            <a:off x="2743200" y="3063240"/>
            <a:ext cx="6675120" cy="548640"/>
          </a:xfrm>
          <a:prstGeom prst="rect">
            <a:avLst/>
          </a:prstGeom>
          <a:noFill/>
          <a:ln/>
        </p:spPr>
        <p:txBody>
          <a:bodyPr wrap="square" rtlCol="0" anchor="ctr"/>
          <a:lstStyle/>
          <a:p>
            <a:pPr marL="0" indent="0" algn="ctr" rtl="1">
              <a:buNone/>
            </a:pPr>
            <a:r>
              <a:rPr lang="en-US" sz="3400" b="1" dirty="0">
                <a:solidFill>
                  <a:srgbClr val="FFFFFF"/>
                </a:solidFill>
              </a:rPr>
              <a:t>يسر</a:t>
            </a:r>
            <a:endParaRPr lang="en-US" sz="3400" dirty="0"/>
          </a:p>
        </p:txBody>
      </p:sp>
      <p:sp>
        <p:nvSpPr>
          <p:cNvPr id="4" name="Text 1"/>
          <p:cNvSpPr/>
          <p:nvPr/>
        </p:nvSpPr>
        <p:spPr>
          <a:xfrm>
            <a:off x="1828800" y="3794760"/>
            <a:ext cx="8503920" cy="365760"/>
          </a:xfrm>
          <a:prstGeom prst="rect">
            <a:avLst/>
          </a:prstGeom>
          <a:noFill/>
          <a:ln/>
        </p:spPr>
        <p:txBody>
          <a:bodyPr wrap="square" rtlCol="0" anchor="ctr"/>
          <a:lstStyle/>
          <a:p>
            <a:pPr marL="0" indent="0" algn="ctr" rtl="1">
              <a:buNone/>
            </a:pPr>
            <a:r>
              <a:rPr lang="en-US" sz="1600" dirty="0">
                <a:solidFill>
                  <a:srgbClr val="E8EDE9"/>
                </a:solidFill>
              </a:rPr>
              <a:t>رعاية منظمة • مسؤولية واضحة • تواصل أسرع • ملخص أذكى</a:t>
            </a:r>
            <a:endParaRPr lang="en-US" sz="1600" dirty="0"/>
          </a:p>
        </p:txBody>
      </p:sp>
      <p:sp>
        <p:nvSpPr>
          <p:cNvPr id="5" name="Text 2"/>
          <p:cNvSpPr/>
          <p:nvPr/>
        </p:nvSpPr>
        <p:spPr>
          <a:xfrm>
            <a:off x="4389120" y="4983480"/>
            <a:ext cx="3383280" cy="320040"/>
          </a:xfrm>
          <a:prstGeom prst="rect">
            <a:avLst/>
          </a:prstGeom>
          <a:noFill/>
          <a:ln/>
        </p:spPr>
        <p:txBody>
          <a:bodyPr wrap="square" rtlCol="0" anchor="ctr"/>
          <a:lstStyle/>
          <a:p>
            <a:pPr marL="0" indent="0" algn="ctr" rtl="1">
              <a:buNone/>
            </a:pPr>
            <a:r>
              <a:rPr lang="en-US" sz="1400" b="1" dirty="0">
                <a:solidFill>
                  <a:srgbClr val="D3B29D"/>
                </a:solidFill>
              </a:rPr>
              <a:t>شكرًا لكم</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1257</Words>
  <Application>Microsoft Office PowerPoint</Application>
  <PresentationFormat>Widescreen</PresentationFormat>
  <Paragraphs>210</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Yusr | يسر</dc:title>
  <dc:subject>Yusr Capstone Presentation</dc:subject>
  <dc:creator>OpenAI</dc:creator>
  <cp:lastModifiedBy>lama Alharbi</cp:lastModifiedBy>
  <cp:revision>2</cp:revision>
  <dcterms:created xsi:type="dcterms:W3CDTF">2026-09-27T23:01:10Z</dcterms:created>
  <dcterms:modified xsi:type="dcterms:W3CDTF">2026-09-27T23:19:32Z</dcterms:modified>
</cp:coreProperties>
</file>